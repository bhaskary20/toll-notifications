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7" r:id="rId2"/>
    <p:sldId id="2147482904" r:id="rId3"/>
    <p:sldId id="2147482907" r:id="rId4"/>
    <p:sldId id="2147482905" r:id="rId5"/>
    <p:sldId id="2147482891" r:id="rId6"/>
    <p:sldId id="2147482879" r:id="rId7"/>
    <p:sldId id="2147482906" r:id="rId8"/>
    <p:sldId id="2147482889" r:id="rId9"/>
    <p:sldId id="2147482883" r:id="rId10"/>
    <p:sldId id="2147482884" r:id="rId11"/>
    <p:sldId id="2147482903" r:id="rId12"/>
    <p:sldId id="2147482793" r:id="rId13"/>
    <p:sldId id="2147482893" r:id="rId14"/>
    <p:sldId id="2147482892" r:id="rId15"/>
    <p:sldId id="2147482894" r:id="rId16"/>
    <p:sldId id="2147482895" r:id="rId17"/>
    <p:sldId id="2147482896" r:id="rId18"/>
    <p:sldId id="2147482897" r:id="rId19"/>
    <p:sldId id="2147482898" r:id="rId20"/>
    <p:sldId id="2147482899" r:id="rId21"/>
    <p:sldId id="214748290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82553C-B01C-E4AC-3FE7-796DA7C48A39}" name="Yadav, Parnika" initials="YP" userId="Yadav, Parnika" providerId="None"/>
  <p188:author id="{905EC5D8-3522-B780-F743-BFF44CE9F361}" name="Document Owner" initials="PP" userId="Document Own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B14C8A-ECE1-4895-8B7D-5AEA2E245FC8}" v="423" dt="2026-10-15T08:43:39.198"/>
    <p1510:client id="{8EE3BCB4-73F0-4D09-AC35-8625D49AF241}" v="110" dt="2026-10-15T08:25:59.396"/>
    <p1510:client id="{D0ABD877-A1A1-5117-E341-170DA5AC42A8}" v="1" dt="2026-10-15T08:20:43.8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713E-8E75-4D1E-8800-AC2D58742D1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CC1F1-0415-4369-A0B7-FF7DAEE31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525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CC1F1-0415-4369-A0B7-FF7DAEE319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874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9256-5B33-8061-5127-BE1E254F6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3AAB3-E22F-65FF-A091-CD37A0BB6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D7CDE-0E8F-8A20-27E7-5470E3557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F0743-3870-AE42-2264-1D473046D0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CC1F1-0415-4369-A0B7-FF7DAEE319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3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0B0B9-A192-BF36-5D5A-924C5E6BC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C6A055-EBB7-F9BE-DCFC-A29BBF3BB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E6280-F7D9-F476-E4D1-8DB37895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95816-03B2-4E84-9FDB-BFDB4F4DE3B7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CA00D-6E0E-4881-5C8A-0D0D81080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181E2-E3FB-427B-DE0E-129C5C96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F15BE-9958-4A15-AA1C-D60BFE30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5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- Right vertical dark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98476" y="1485243"/>
            <a:ext cx="3600000" cy="3420000"/>
          </a:xfrm>
        </p:spPr>
        <p:txBody>
          <a:bodyPr anchor="t" anchorCtr="0"/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Title slide text only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98478" y="5007010"/>
            <a:ext cx="3600000" cy="810000"/>
          </a:xfrm>
        </p:spPr>
        <p:txBody>
          <a:bodyPr anchor="b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C25D63-C34F-7EC5-61A2-F0875D3CE2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93587" y="114158"/>
            <a:ext cx="1204072" cy="79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D71882-EBB3-B217-DC5F-7F2C825189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97" y="117448"/>
            <a:ext cx="1836125" cy="837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0878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ack Cover dark Gradient">
    <p:bg>
      <p:bgPr>
        <a:gradFill>
          <a:gsLst>
            <a:gs pos="100000">
              <a:srgbClr val="7030A0"/>
            </a:gs>
            <a:gs pos="0">
              <a:schemeClr val="accent4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35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1A9932-0B46-7344-9E10-3ADF553E9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90690-D121-57AF-F57E-E6153E3EB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9FF0C-5FDA-90C7-4598-4F6EDC6E23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95816-03B2-4E84-9FDB-BFDB4F4DE3B7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EB138-C41B-7A76-3E48-77BB720C4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11E44-359C-8037-354B-F4F0DABB4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F15BE-9958-4A15-AA1C-D60BFE30F2F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4BC88F-8E2C-DBCA-D1F5-04831741C7E0}"/>
              </a:ext>
            </a:extLst>
          </p:cNvPr>
          <p:cNvCxnSpPr/>
          <p:nvPr userDrawn="1"/>
        </p:nvCxnSpPr>
        <p:spPr>
          <a:xfrm>
            <a:off x="422694" y="617987"/>
            <a:ext cx="117693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48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9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7465" y="1932317"/>
            <a:ext cx="6380920" cy="3559382"/>
          </a:xfrm>
        </p:spPr>
        <p:txBody>
          <a:bodyPr anchor="ctr">
            <a:normAutofit fontScale="90000"/>
          </a:bodyPr>
          <a:lstStyle/>
          <a:p>
            <a:r>
              <a:rPr lang="en-GB" sz="4400" b="1">
                <a:latin typeface="Arial"/>
                <a:cs typeface="Arial"/>
              </a:rPr>
              <a:t>EC Agenda</a:t>
            </a:r>
            <a:br>
              <a:rPr lang="en-GB" sz="4000" b="1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sz="40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100" b="1">
                <a:solidFill>
                  <a:srgbClr val="FFC000"/>
                </a:solidFill>
                <a:latin typeface="Arial"/>
                <a:cs typeface="Arial"/>
              </a:rPr>
              <a:t>Commercial Operation Division</a:t>
            </a:r>
            <a:br>
              <a:rPr lang="en-GB" sz="4800" i="1">
                <a:solidFill>
                  <a:srgbClr val="FFC000"/>
                </a:solidFill>
              </a:rPr>
            </a:br>
            <a:br>
              <a:rPr lang="en-GB" sz="4800" i="1"/>
            </a:br>
            <a:br>
              <a:rPr lang="en-GB" sz="4800"/>
            </a:br>
            <a:r>
              <a:rPr lang="en-GB" sz="2200" b="1">
                <a:latin typeface="Arial"/>
                <a:cs typeface="Arial"/>
              </a:rPr>
              <a:t>National Highways Authority of India</a:t>
            </a:r>
            <a:br>
              <a:rPr lang="en-GB" sz="60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6700" b="1">
                <a:latin typeface="Arial"/>
                <a:cs typeface="Arial"/>
              </a:rPr>
              <a:t> </a:t>
            </a:r>
            <a:br>
              <a:rPr lang="en-GB" sz="67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b="1">
                <a:latin typeface="Arial"/>
                <a:cs typeface="Arial"/>
              </a:rPr>
              <a:t>15 October 2026</a:t>
            </a:r>
            <a:endParaRPr lang="en-GB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359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E6BD4-37B5-1CF6-B96C-17E356A45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A11E120-5FBF-3E47-0CFB-1B822A168614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endParaRPr lang="en-US" sz="2200" b="1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DAB5D6-E20B-9E2D-BE9F-82ECB4D57B9A}"/>
              </a:ext>
            </a:extLst>
          </p:cNvPr>
          <p:cNvSpPr txBox="1"/>
          <p:nvPr/>
        </p:nvSpPr>
        <p:spPr>
          <a:xfrm>
            <a:off x="505577" y="1043503"/>
            <a:ext cx="11086348" cy="511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>
              <a:lnSpc>
                <a:spcPct val="300000"/>
              </a:lnSpc>
              <a:spcBef>
                <a:spcPts val="1200"/>
              </a:spcBef>
              <a:spcAft>
                <a:spcPts val="800"/>
              </a:spcAft>
              <a:buSzPct val="100000"/>
              <a:buAutoNum type="arabicPeriod"/>
              <a:tabLst>
                <a:tab pos="685800" algn="l"/>
                <a:tab pos="1204595" algn="l"/>
              </a:tabLst>
            </a:pPr>
            <a:r>
              <a:rPr lang="en-US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Total FMC Cases Reported for User Fee Collection Agency Contracts</a:t>
            </a:r>
          </a:p>
          <a:p>
            <a:pPr marL="457200" indent="-457200">
              <a:lnSpc>
                <a:spcPct val="300000"/>
              </a:lnSpc>
              <a:spcBef>
                <a:spcPts val="1200"/>
              </a:spcBef>
              <a:spcAft>
                <a:spcPts val="800"/>
              </a:spcAft>
              <a:buSzPct val="100000"/>
              <a:buFontTx/>
              <a:buAutoNum type="arabicPeriod"/>
              <a:tabLst>
                <a:tab pos="685800" algn="l"/>
                <a:tab pos="1204595" algn="l"/>
              </a:tabLst>
            </a:pPr>
            <a:r>
              <a:rPr lang="en-US" sz="2000" b="1" kern="100" dirty="0">
                <a:latin typeface="Arial" panose="020B0604020202020204" pitchFamily="34" charset="0"/>
                <a:cs typeface="Arial" panose="020B0604020202020204" pitchFamily="34" charset="0"/>
              </a:rPr>
              <a:t>Total BG &amp; Security Cases Reported for User Fee Collection Agency Contracts</a:t>
            </a:r>
          </a:p>
          <a:p>
            <a:pPr marL="457200" indent="-457200">
              <a:lnSpc>
                <a:spcPct val="300000"/>
              </a:lnSpc>
              <a:spcBef>
                <a:spcPts val="1200"/>
              </a:spcBef>
              <a:spcAft>
                <a:spcPts val="800"/>
              </a:spcAft>
              <a:buSzPct val="100000"/>
              <a:buFontTx/>
              <a:buAutoNum type="arabicPeriod"/>
              <a:tabLst>
                <a:tab pos="685800" algn="l"/>
                <a:tab pos="1204595" algn="l"/>
              </a:tabLst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Notices Issued by PIUs due to Poor Upkeep of Toilet Blocks and Admin Building</a:t>
            </a:r>
            <a:endParaRPr lang="en-US" sz="2000" b="1" kern="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300000"/>
              </a:lnSpc>
              <a:spcBef>
                <a:spcPts val="1200"/>
              </a:spcBef>
              <a:spcAft>
                <a:spcPts val="800"/>
              </a:spcAft>
              <a:buSzPts val="1000"/>
              <a:buAutoNum type="arabicPeriod"/>
              <a:tabLst>
                <a:tab pos="685800" algn="l"/>
                <a:tab pos="1204595" algn="l"/>
              </a:tabLst>
            </a:pPr>
            <a:endParaRPr lang="en-US" sz="2000" b="1" kern="1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1">
              <a:lnSpc>
                <a:spcPct val="300000"/>
              </a:lnSpc>
              <a:spcAft>
                <a:spcPts val="800"/>
              </a:spcAft>
              <a:tabLst>
                <a:tab pos="1204595" algn="l"/>
              </a:tabLst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720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E4AE8-5082-D666-8CFA-14850696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58B8D64-906B-C5AC-9CED-A56C22EBD403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1a) Force Majeure Claims: </a:t>
            </a:r>
            <a:r>
              <a:rPr lang="en-US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32 cases reported on Datalake Pending for Action (1/3)</a:t>
            </a:r>
            <a:endParaRPr lang="en-US" sz="2200" b="1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F5ED2-4947-9BA3-9B21-F11BFA2AE031}"/>
              </a:ext>
            </a:extLst>
          </p:cNvPr>
          <p:cNvSpPr txBox="1"/>
          <p:nvPr/>
        </p:nvSpPr>
        <p:spPr>
          <a:xfrm>
            <a:off x="505577" y="1043503"/>
            <a:ext cx="11086348" cy="4144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1200"/>
              </a:spcBef>
              <a:spcAft>
                <a:spcPts val="800"/>
              </a:spcAft>
              <a:buSzPts val="1000"/>
              <a:tabLst>
                <a:tab pos="685800" algn="l"/>
                <a:tab pos="1204595" algn="l"/>
              </a:tabLst>
            </a:pPr>
            <a:r>
              <a:rPr lang="en-US" sz="2000" b="1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Total FMC Cases Reported: 32</a:t>
            </a:r>
            <a:r>
              <a:rPr lang="en-US" sz="2000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Nos.</a:t>
            </a:r>
          </a:p>
          <a:p>
            <a:pPr marL="285750" indent="-285750">
              <a:spcBef>
                <a:spcPts val="1200"/>
              </a:spcBef>
              <a:spcAft>
                <a:spcPts val="1800"/>
              </a:spcAft>
              <a:buFont typeface="+mj-lt"/>
              <a:buAutoNum type="alphaLcPeriod"/>
              <a:tabLst>
                <a:tab pos="1204595" algn="l"/>
              </a:tabLst>
            </a:pPr>
            <a:r>
              <a:rPr lang="en-US" sz="20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</a:t>
            </a:r>
            <a:r>
              <a:rPr lang="en-US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ith PIU: </a:t>
            </a:r>
            <a:r>
              <a:rPr lang="en-US" sz="2000" b="1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20 Nos.</a:t>
            </a:r>
            <a:r>
              <a:rPr lang="en-US" sz="2000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(with an average pendency of 11 days) </a:t>
            </a:r>
            <a:r>
              <a:rPr lang="en-US" sz="2000" i="1" kern="100" dirty="0">
                <a:solidFill>
                  <a:srgbClr val="0070C0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more than 62% of cases are pending at PIU level</a:t>
            </a:r>
            <a:endParaRPr lang="en-US" sz="2000" i="1" kern="100" dirty="0">
              <a:solidFill>
                <a:srgbClr val="0070C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1200"/>
              </a:spcBef>
              <a:spcAft>
                <a:spcPts val="1800"/>
              </a:spcAft>
              <a:buFont typeface="+mj-lt"/>
              <a:buAutoNum type="alphaLcPeriod"/>
              <a:tabLst>
                <a:tab pos="1204595" algn="l"/>
              </a:tabLst>
            </a:pPr>
            <a:r>
              <a:rPr lang="en-US" sz="20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</a:t>
            </a:r>
            <a:r>
              <a:rPr lang="en-US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ith RO: </a:t>
            </a:r>
            <a:r>
              <a:rPr lang="en-US" sz="2000" b="1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 Nos.</a:t>
            </a:r>
          </a:p>
          <a:p>
            <a:pPr marL="285750" indent="-285750">
              <a:spcBef>
                <a:spcPts val="1200"/>
              </a:spcBef>
              <a:spcAft>
                <a:spcPts val="1800"/>
              </a:spcAft>
              <a:buFont typeface="+mj-lt"/>
              <a:buAutoNum type="alphaLcPeriod"/>
              <a:tabLst>
                <a:tab pos="1204595" algn="l"/>
              </a:tabLst>
            </a:pPr>
            <a:r>
              <a:rPr lang="en-US" sz="2000" b="1" kern="100" dirty="0">
                <a:solidFill>
                  <a:prstClr val="black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</a:t>
            </a:r>
            <a:r>
              <a:rPr kumimoji="0" lang="en-US" sz="20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ith</a:t>
            </a: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Agency: </a:t>
            </a: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8 Nos.</a:t>
            </a:r>
            <a:r>
              <a: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000" b="0" i="1" u="none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(Decision Letter Uploaded by PIU</a:t>
            </a:r>
            <a:r>
              <a:rPr kumimoji="0" lang="en-US" sz="2000" b="1" i="1" u="none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2000" i="1" kern="100" dirty="0">
                <a:solidFill>
                  <a:srgbClr val="0070C0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with an average pendency of 7 days)</a:t>
            </a:r>
            <a:endParaRPr kumimoji="0" lang="en-US" sz="2000" b="0" i="1" u="none" strike="noStrike" kern="1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285750" indent="-285750">
              <a:spcBef>
                <a:spcPts val="1200"/>
              </a:spcBef>
              <a:spcAft>
                <a:spcPts val="1800"/>
              </a:spcAft>
              <a:buFont typeface="+mj-lt"/>
              <a:buAutoNum type="alphaLcPeriod"/>
              <a:tabLst>
                <a:tab pos="1204595" algn="l"/>
              </a:tabLst>
              <a:defRPr/>
            </a:pPr>
            <a:r>
              <a:rPr lang="en-US" sz="20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HQ: </a:t>
            </a:r>
            <a:r>
              <a:rPr lang="en-US" sz="2000" b="1" kern="100" dirty="0">
                <a:solidFill>
                  <a:srgbClr val="0070C0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 Nos. (RO - Guwahati)</a:t>
            </a:r>
            <a:r>
              <a:rPr lang="en-US" sz="2000" i="1" kern="100" dirty="0">
                <a:solidFill>
                  <a:srgbClr val="0070C0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(The case is under Conciliation)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+mj-lt"/>
              <a:buAutoNum type="alphaLcPeriod"/>
              <a:tabLst>
                <a:tab pos="1204595" algn="l"/>
              </a:tabLst>
              <a:defRPr/>
            </a:pPr>
            <a:endParaRPr kumimoji="0" lang="en-US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R="0" lvl="1">
              <a:lnSpc>
                <a:spcPct val="100000"/>
              </a:lnSpc>
              <a:spcAft>
                <a:spcPts val="800"/>
              </a:spcAft>
              <a:tabLst>
                <a:tab pos="1204595" algn="l"/>
              </a:tabLst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C7C22A-5A6E-A4FB-7AAF-6FB5A84A7E48}"/>
              </a:ext>
            </a:extLst>
          </p:cNvPr>
          <p:cNvSpPr txBox="1"/>
          <p:nvPr/>
        </p:nvSpPr>
        <p:spPr>
          <a:xfrm>
            <a:off x="505577" y="5940426"/>
            <a:ext cx="47084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Status as per </a:t>
            </a:r>
            <a:r>
              <a:rPr lang="en-US" sz="1200" i="1" err="1">
                <a:latin typeface="Arial" panose="020B0604020202020204" pitchFamily="34" charset="0"/>
                <a:cs typeface="Arial" panose="020B0604020202020204" pitchFamily="34" charset="0"/>
              </a:rPr>
              <a:t>Datalake</a:t>
            </a:r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 as on 15 Oct’26</a:t>
            </a:r>
          </a:p>
        </p:txBody>
      </p:sp>
    </p:spTree>
    <p:extLst>
      <p:ext uri="{BB962C8B-B14F-4D97-AF65-F5344CB8AC3E}">
        <p14:creationId xmlns:p14="http://schemas.microsoft.com/office/powerpoint/2010/main" val="287821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4DBB-99B9-023D-5191-0C025AC79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D82493-4615-E542-F74A-4BE7D7A882B4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1a) Force Majeure Claims: </a:t>
            </a:r>
            <a:r>
              <a:rPr lang="en-US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32 cases reported on Datalake Pending for Action (2/3)</a:t>
            </a:r>
            <a:endParaRPr lang="en-US" sz="2200" b="1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1FF36C-7800-0BBD-166A-D90F6F0DC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857777"/>
              </p:ext>
            </p:extLst>
          </p:nvPr>
        </p:nvGraphicFramePr>
        <p:xfrm>
          <a:off x="611204" y="702644"/>
          <a:ext cx="10999771" cy="6000385"/>
        </p:xfrm>
        <a:graphic>
          <a:graphicData uri="http://schemas.openxmlformats.org/drawingml/2006/table">
            <a:tbl>
              <a:tblPr firstRow="1" firstCol="1" bandRow="1"/>
              <a:tblGrid>
                <a:gridCol w="620145">
                  <a:extLst>
                    <a:ext uri="{9D8B030D-6E8A-4147-A177-3AD203B41FA5}">
                      <a16:colId xmlns:a16="http://schemas.microsoft.com/office/drawing/2014/main" val="2450397806"/>
                    </a:ext>
                  </a:extLst>
                </a:gridCol>
                <a:gridCol w="2193150">
                  <a:extLst>
                    <a:ext uri="{9D8B030D-6E8A-4147-A177-3AD203B41FA5}">
                      <a16:colId xmlns:a16="http://schemas.microsoft.com/office/drawing/2014/main" val="1539163166"/>
                    </a:ext>
                  </a:extLst>
                </a:gridCol>
                <a:gridCol w="1251062">
                  <a:extLst>
                    <a:ext uri="{9D8B030D-6E8A-4147-A177-3AD203B41FA5}">
                      <a16:colId xmlns:a16="http://schemas.microsoft.com/office/drawing/2014/main" val="843576352"/>
                    </a:ext>
                  </a:extLst>
                </a:gridCol>
                <a:gridCol w="2350480">
                  <a:extLst>
                    <a:ext uri="{9D8B030D-6E8A-4147-A177-3AD203B41FA5}">
                      <a16:colId xmlns:a16="http://schemas.microsoft.com/office/drawing/2014/main" val="4188937737"/>
                    </a:ext>
                  </a:extLst>
                </a:gridCol>
                <a:gridCol w="1611216">
                  <a:extLst>
                    <a:ext uri="{9D8B030D-6E8A-4147-A177-3AD203B41FA5}">
                      <a16:colId xmlns:a16="http://schemas.microsoft.com/office/drawing/2014/main" val="1050912385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867628829"/>
                    </a:ext>
                  </a:extLst>
                </a:gridCol>
                <a:gridCol w="1504668">
                  <a:extLst>
                    <a:ext uri="{9D8B030D-6E8A-4147-A177-3AD203B41FA5}">
                      <a16:colId xmlns:a16="http://schemas.microsoft.com/office/drawing/2014/main" val="1942483144"/>
                    </a:ext>
                  </a:extLst>
                </a:gridCol>
              </a:tblGrid>
              <a:tr h="5641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S.NO.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Total FMC</a:t>
                      </a:r>
                      <a:endParaRPr lang="en-US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Pending with User Fee Agency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Pending with PIU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Pending with RO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Pending with HQ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414724"/>
                  </a:ext>
                </a:extLst>
              </a:tr>
              <a:tr h="208257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1828800" algn="l"/>
                        </a:tabLst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  Total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32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817489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RO‑Bengaluru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538386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RO‑Bhopal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893062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RO‑Bhubaneswar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09077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RO‑Chandigarh (HR)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412256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RO‑Chandigarh (PB)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43774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RO‑Chennai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347778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7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RO‑Dehradun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404745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RO‑Delhi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074609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RO‑Gandhinagar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4681579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RO‑Guwahati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051277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RO‑Hyderabad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131938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RO‑Jaipur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136179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RO‑Jammu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13327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14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RO‑Kolkata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911806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RO‑Madurai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445038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16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RO‑Mumbai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138514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17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RO‑Nagpur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885976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RO‑Patna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180690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RO‑Raipur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636689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RO‑Ranchi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831345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RO‑Shimla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803016"/>
                  </a:ext>
                </a:extLst>
              </a:tr>
              <a:tr h="2067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RO‑Thiruvananthapuram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046414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RO‑UP East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205037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RO‑UP West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101812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RO‑Vijayawada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4349" marR="54349" marT="0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703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134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6A1B9-BFDB-B92B-46E9-FC0638FE4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97B3820-136D-2D78-ACA2-726573BFDC40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1a) Force Majeure Claims: </a:t>
            </a:r>
            <a:r>
              <a:rPr lang="en-US" sz="22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 cases Pending for Action; with 20 PIUs across 13 ROs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1F8AA4F-E216-F60D-5F41-24D3A7B3F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965995"/>
              </p:ext>
            </p:extLst>
          </p:nvPr>
        </p:nvGraphicFramePr>
        <p:xfrm>
          <a:off x="625418" y="1007873"/>
          <a:ext cx="4721282" cy="522465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50079">
                  <a:extLst>
                    <a:ext uri="{9D8B030D-6E8A-4147-A177-3AD203B41FA5}">
                      <a16:colId xmlns:a16="http://schemas.microsoft.com/office/drawing/2014/main" val="680930460"/>
                    </a:ext>
                  </a:extLst>
                </a:gridCol>
                <a:gridCol w="2571203">
                  <a:extLst>
                    <a:ext uri="{9D8B030D-6E8A-4147-A177-3AD203B41FA5}">
                      <a16:colId xmlns:a16="http://schemas.microsoft.com/office/drawing/2014/main" val="1805577528"/>
                    </a:ext>
                  </a:extLst>
                </a:gridCol>
              </a:tblGrid>
              <a:tr h="47323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RO/PIU</a:t>
                      </a:r>
                    </a:p>
                  </a:txBody>
                  <a:tcPr marL="45720" marR="4287" marT="4287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FMC Cases Pending for Action</a:t>
                      </a:r>
                    </a:p>
                  </a:txBody>
                  <a:tcPr marL="45720" marR="4287" marT="4287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543014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RO-Bengaluru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970235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Bengaluru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2396975732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Hassan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2932099172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RO-Bhopal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685519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Bhopal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1466924194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Rewa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3668714041"/>
                  </a:ext>
                </a:extLst>
              </a:tr>
              <a:tr h="463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RO-Bhubaneswar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002340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Keonjhar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2612054798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Sambalpur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1621895512"/>
                  </a:ext>
                </a:extLst>
              </a:tr>
              <a:tr h="4639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RO-Chandigarh (PB)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382870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Bhatinda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2109331780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RO-Chennai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413722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Chennai-II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1169213302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Viluppuram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2969899984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RO-Delhi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601968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Baghpat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94275128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RO-Guwahati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957375"/>
                  </a:ext>
                </a:extLst>
              </a:tr>
              <a:tr h="2389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Guwahati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175917435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C335EC-4FA5-1394-9EDE-FBD802F22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955559"/>
              </p:ext>
            </p:extLst>
          </p:nvPr>
        </p:nvGraphicFramePr>
        <p:xfrm>
          <a:off x="6445250" y="991396"/>
          <a:ext cx="4721282" cy="525760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74900">
                  <a:extLst>
                    <a:ext uri="{9D8B030D-6E8A-4147-A177-3AD203B41FA5}">
                      <a16:colId xmlns:a16="http://schemas.microsoft.com/office/drawing/2014/main" val="680930460"/>
                    </a:ext>
                  </a:extLst>
                </a:gridCol>
                <a:gridCol w="2346382">
                  <a:extLst>
                    <a:ext uri="{9D8B030D-6E8A-4147-A177-3AD203B41FA5}">
                      <a16:colId xmlns:a16="http://schemas.microsoft.com/office/drawing/2014/main" val="1805577528"/>
                    </a:ext>
                  </a:extLst>
                </a:gridCol>
              </a:tblGrid>
              <a:tr h="5873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RO/PIU</a:t>
                      </a:r>
                    </a:p>
                  </a:txBody>
                  <a:tcPr marL="45720" marR="4287" marT="4287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FMC Cases Pending for Action</a:t>
                      </a:r>
                    </a:p>
                  </a:txBody>
                  <a:tcPr marL="45720" marR="4287" marT="4287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543014"/>
                  </a:ext>
                </a:extLst>
              </a:tr>
              <a:tr h="2965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Guwahati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1759174353"/>
                  </a:ext>
                </a:extLst>
              </a:tr>
              <a:tr h="2965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RO-Madurai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477953"/>
                  </a:ext>
                </a:extLst>
              </a:tr>
              <a:tr h="2965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Nagarcoil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441911394"/>
                  </a:ext>
                </a:extLst>
              </a:tr>
              <a:tr h="2965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RO-Mumbai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224036"/>
                  </a:ext>
                </a:extLst>
              </a:tr>
              <a:tr h="2965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Pandharpur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1823635387"/>
                  </a:ext>
                </a:extLst>
              </a:tr>
              <a:tr h="2965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2187310192"/>
                  </a:ext>
                </a:extLst>
              </a:tr>
              <a:tr h="2965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RO-Patna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097574"/>
                  </a:ext>
                </a:extLst>
              </a:tr>
              <a:tr h="2965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Bhagalpur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3311220642"/>
                  </a:ext>
                </a:extLst>
              </a:tr>
              <a:tr h="2965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RO-Raipur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774248"/>
                  </a:ext>
                </a:extLst>
              </a:tr>
              <a:tr h="250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Korba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1194507320"/>
                  </a:ext>
                </a:extLst>
              </a:tr>
              <a:tr h="250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Raipur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1602676460"/>
                  </a:ext>
                </a:extLst>
              </a:tr>
              <a:tr h="250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RO-Ranchi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83661"/>
                  </a:ext>
                </a:extLst>
              </a:tr>
              <a:tr h="250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Daltonganj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99217902"/>
                  </a:ext>
                </a:extLst>
              </a:tr>
              <a:tr h="250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RO-UP East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046936"/>
                  </a:ext>
                </a:extLst>
              </a:tr>
              <a:tr h="250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Azamgarh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2670453717"/>
                  </a:ext>
                </a:extLst>
              </a:tr>
              <a:tr h="250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Gorakhpur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/>
                </a:tc>
                <a:extLst>
                  <a:ext uri="{0D108BD9-81ED-4DB2-BD59-A6C34878D82A}">
                    <a16:rowId xmlns:a16="http://schemas.microsoft.com/office/drawing/2014/main" val="2840333596"/>
                  </a:ext>
                </a:extLst>
              </a:tr>
              <a:tr h="250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 Total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287" marT="4287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103242"/>
                  </a:ext>
                </a:extLst>
              </a:tr>
            </a:tbl>
          </a:graphicData>
        </a:graphic>
      </p:graphicFrame>
      <p:pic>
        <p:nvPicPr>
          <p:cNvPr id="9" name="Picture 8">
            <a:hlinkClick r:id="rId2" action="ppaction://hlinksldjump"/>
            <a:extLst>
              <a:ext uri="{FF2B5EF4-FFF2-40B4-BE49-F238E27FC236}">
                <a16:creationId xmlns:a16="http://schemas.microsoft.com/office/drawing/2014/main" id="{AC01C73A-642E-227B-6675-B63B63E81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071" y="6403349"/>
            <a:ext cx="318989" cy="31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37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C6F9D7-4A94-054E-98BD-D00DF13F7B6F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1b. BG &amp; Security Releases: </a:t>
            </a:r>
            <a:r>
              <a:rPr lang="en-US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45 cases reported on Datalake Pending for Action (1/3) </a:t>
            </a:r>
            <a:endParaRPr lang="en-US" sz="2200" b="1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68513-C106-58D8-D6EC-4D0EAE9C194D}"/>
              </a:ext>
            </a:extLst>
          </p:cNvPr>
          <p:cNvSpPr txBox="1"/>
          <p:nvPr/>
        </p:nvSpPr>
        <p:spPr>
          <a:xfrm>
            <a:off x="520642" y="1237643"/>
            <a:ext cx="11346003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0000"/>
              </a:lnSpc>
              <a:spcBef>
                <a:spcPts val="1800"/>
              </a:spcBef>
              <a:spcAft>
                <a:spcPts val="800"/>
              </a:spcAft>
              <a:buSzPts val="1200"/>
              <a:tabLst>
                <a:tab pos="647700" algn="l"/>
              </a:tabLst>
            </a:pPr>
            <a:r>
              <a:rPr lang="en-US" sz="2000" b="1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Total BG/Security Release Cases: 45 Nos.</a:t>
            </a:r>
            <a:r>
              <a:rPr lang="en-US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endParaRPr lang="en-US" sz="2000" kern="100" dirty="0"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ts val="1800"/>
              </a:spcBef>
              <a:spcAft>
                <a:spcPts val="800"/>
              </a:spcAft>
              <a:buSzPct val="100000"/>
              <a:buFont typeface="+mj-lt"/>
              <a:buAutoNum type="alphaLcPeriod"/>
              <a:tabLst>
                <a:tab pos="647700" algn="l"/>
              </a:tabLst>
            </a:pPr>
            <a:r>
              <a:rPr lang="en-US" sz="20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Only 1 case satisfied and closed</a:t>
            </a:r>
          </a:p>
          <a:p>
            <a:pPr marL="800100" lvl="1" indent="-342900">
              <a:spcBef>
                <a:spcPts val="1800"/>
              </a:spcBef>
              <a:spcAft>
                <a:spcPts val="800"/>
              </a:spcAft>
              <a:buSzPct val="100000"/>
              <a:buFont typeface="+mj-lt"/>
              <a:buAutoNum type="alphaLcPeriod"/>
              <a:tabLst>
                <a:tab pos="647700" algn="l"/>
              </a:tabLst>
            </a:pPr>
            <a:r>
              <a:rPr lang="en-US" sz="2000" b="1" kern="100" dirty="0"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</a:t>
            </a:r>
            <a:r>
              <a:rPr lang="en-US" sz="2000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ith PIU: </a:t>
            </a:r>
            <a:r>
              <a:rPr lang="en-US" sz="2000" b="1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41 Nos.</a:t>
            </a:r>
            <a:r>
              <a:rPr lang="en-US" sz="2000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2000" i="1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(with an average pendency of 14 days) </a:t>
            </a:r>
            <a:r>
              <a:rPr lang="en-US" sz="2000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- </a:t>
            </a:r>
            <a:r>
              <a:rPr lang="en-US" sz="2000" i="1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91% of pendency lies at PIU level.</a:t>
            </a:r>
            <a:endParaRPr lang="en-US" sz="2000" i="1" kern="100" dirty="0">
              <a:solidFill>
                <a:srgbClr val="0070C0"/>
              </a:solidFill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ts val="1800"/>
              </a:spcBef>
              <a:spcAft>
                <a:spcPts val="800"/>
              </a:spcAft>
              <a:buSzPct val="100000"/>
              <a:buFont typeface="+mj-lt"/>
              <a:buAutoNum type="alphaLcPeriod"/>
              <a:tabLst>
                <a:tab pos="647700" algn="l"/>
              </a:tabLst>
            </a:pPr>
            <a:r>
              <a:rPr lang="en-US" sz="20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Pending with Agency: </a:t>
            </a:r>
            <a:r>
              <a:rPr lang="en-US" sz="2000" b="1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3 Nos.</a:t>
            </a:r>
            <a:r>
              <a:rPr lang="en-US" sz="20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2000" i="1" kern="1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Decision Letter Uploaded by PIU) </a:t>
            </a:r>
            <a:r>
              <a:rPr lang="en-US" sz="2000" i="1" kern="100" dirty="0">
                <a:solidFill>
                  <a:srgbClr val="0070C0"/>
                </a:solidFill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(with an average pendency of 16 days)</a:t>
            </a:r>
          </a:p>
          <a:p>
            <a:pPr marL="800100" lvl="1" indent="-342900">
              <a:spcBef>
                <a:spcPts val="1800"/>
              </a:spcBef>
              <a:spcAft>
                <a:spcPts val="800"/>
              </a:spcAft>
              <a:buSzPts val="1200"/>
              <a:buFont typeface="+mj-lt"/>
              <a:buAutoNum type="alphaLcPeriod"/>
              <a:tabLst>
                <a:tab pos="647700" algn="l"/>
              </a:tabLst>
            </a:pPr>
            <a:endParaRPr lang="en-US" sz="20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F6FD44-BD0A-8CC9-ADF0-FBF6DB89ADE9}"/>
              </a:ext>
            </a:extLst>
          </p:cNvPr>
          <p:cNvSpPr txBox="1"/>
          <p:nvPr/>
        </p:nvSpPr>
        <p:spPr>
          <a:xfrm>
            <a:off x="308009" y="6486525"/>
            <a:ext cx="38448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Status as per </a:t>
            </a:r>
            <a:r>
              <a:rPr lang="en-US" sz="1200" i="1" err="1">
                <a:latin typeface="Arial" panose="020B0604020202020204" pitchFamily="34" charset="0"/>
                <a:cs typeface="Arial" panose="020B0604020202020204" pitchFamily="34" charset="0"/>
              </a:rPr>
              <a:t>Datalake</a:t>
            </a:r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 as on 15 Oct’26</a:t>
            </a:r>
          </a:p>
        </p:txBody>
      </p:sp>
    </p:spTree>
    <p:extLst>
      <p:ext uri="{BB962C8B-B14F-4D97-AF65-F5344CB8AC3E}">
        <p14:creationId xmlns:p14="http://schemas.microsoft.com/office/powerpoint/2010/main" val="475828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5DDAC-4C15-7309-9927-50E55E737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A54356-7D0F-EB99-503B-F711F5146D0C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1b. BG &amp; Security Releases: </a:t>
            </a:r>
            <a:r>
              <a:rPr lang="en-US" sz="2200" b="1" i="1" dirty="0">
                <a:latin typeface="Arial" panose="020B0604020202020204" pitchFamily="34" charset="0"/>
                <a:cs typeface="Arial" panose="020B0604020202020204" pitchFamily="34" charset="0"/>
              </a:rPr>
              <a:t>45 cases reported on Datalake Pending for Action (2/3) </a:t>
            </a:r>
            <a:endParaRPr lang="en-US" sz="2200" b="1" i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D854A8-FD9B-CF35-E4EF-10D6A97FD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338046"/>
              </p:ext>
            </p:extLst>
          </p:nvPr>
        </p:nvGraphicFramePr>
        <p:xfrm>
          <a:off x="609600" y="741144"/>
          <a:ext cx="10982324" cy="5983379"/>
        </p:xfrm>
        <a:graphic>
          <a:graphicData uri="http://schemas.openxmlformats.org/drawingml/2006/table">
            <a:tbl>
              <a:tblPr firstRow="1" firstCol="1" bandRow="1"/>
              <a:tblGrid>
                <a:gridCol w="1107254">
                  <a:extLst>
                    <a:ext uri="{9D8B030D-6E8A-4147-A177-3AD203B41FA5}">
                      <a16:colId xmlns:a16="http://schemas.microsoft.com/office/drawing/2014/main" val="3942907265"/>
                    </a:ext>
                  </a:extLst>
                </a:gridCol>
                <a:gridCol w="2934563">
                  <a:extLst>
                    <a:ext uri="{9D8B030D-6E8A-4147-A177-3AD203B41FA5}">
                      <a16:colId xmlns:a16="http://schemas.microsoft.com/office/drawing/2014/main" val="1413361254"/>
                    </a:ext>
                  </a:extLst>
                </a:gridCol>
                <a:gridCol w="1683598">
                  <a:extLst>
                    <a:ext uri="{9D8B030D-6E8A-4147-A177-3AD203B41FA5}">
                      <a16:colId xmlns:a16="http://schemas.microsoft.com/office/drawing/2014/main" val="570928768"/>
                    </a:ext>
                  </a:extLst>
                </a:gridCol>
                <a:gridCol w="3143076">
                  <a:extLst>
                    <a:ext uri="{9D8B030D-6E8A-4147-A177-3AD203B41FA5}">
                      <a16:colId xmlns:a16="http://schemas.microsoft.com/office/drawing/2014/main" val="2242119448"/>
                    </a:ext>
                  </a:extLst>
                </a:gridCol>
                <a:gridCol w="2113833">
                  <a:extLst>
                    <a:ext uri="{9D8B030D-6E8A-4147-A177-3AD203B41FA5}">
                      <a16:colId xmlns:a16="http://schemas.microsoft.com/office/drawing/2014/main" val="1952582343"/>
                    </a:ext>
                  </a:extLst>
                </a:gridCol>
              </a:tblGrid>
              <a:tr h="251612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S.No</a:t>
                      </a: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  <a:endParaRPr lang="en-US" sz="1200" b="1" kern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</a:t>
                      </a:r>
                      <a:endParaRPr lang="en-US" sz="1200" b="1" kern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Total BG</a:t>
                      </a:r>
                      <a:endParaRPr lang="en-US" sz="1200" b="1" kern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With User Fee Agency</a:t>
                      </a:r>
                      <a:endParaRPr lang="en-US" sz="1200" b="1" kern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With PIU</a:t>
                      </a:r>
                      <a:endParaRPr lang="en-US" sz="1200" b="1" kern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897684"/>
                  </a:ext>
                </a:extLst>
              </a:tr>
              <a:tr h="22915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Total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45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41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155671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RO‑Bengaluru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585061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RO‑Bhopal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00300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RO‑Bhubaneswar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388881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RO‑Chandigarh (HR)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966907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RO‑Chandigarh (PB)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3409265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RO‑Chennai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548442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7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RO‑Dehradun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460490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RO‑Delhi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760455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RO‑Gandhinagar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504948"/>
                  </a:ext>
                </a:extLst>
              </a:tr>
              <a:tr h="21729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RO‑Guwahati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216508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RO‑Hyderabad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9521932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RO‑Jaipur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876470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RO‑Jammu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044145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RO‑Kolkata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501066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RO‑Madurai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731382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RO‑Mumbai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597602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RO‑Nagpur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917161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RO‑Patna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92430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RO‑Raipur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522273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RO‑Ranchi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564649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RO‑Shimla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b="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904627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RO‑Thiruvananthapuram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85686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RO‑UP East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1556999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RO‑UP West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366988"/>
                  </a:ext>
                </a:extLst>
              </a:tr>
              <a:tr h="2201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RO‑Vijayawada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2658" marR="52658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4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9880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402EA-9CB7-F6B6-5FD7-53D145872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45A683-9F2E-7349-6193-30B768DD1C00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1b. BG &amp; Security Releases: </a:t>
            </a:r>
            <a:r>
              <a:rPr lang="en-US" sz="22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 cases Pending for action; with 35 PIUS across 20 ROs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B4F64F-4B36-7528-1495-034D16B0D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908774"/>
              </p:ext>
            </p:extLst>
          </p:nvPr>
        </p:nvGraphicFramePr>
        <p:xfrm>
          <a:off x="620379" y="806909"/>
          <a:ext cx="5027845" cy="590056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32371">
                  <a:extLst>
                    <a:ext uri="{9D8B030D-6E8A-4147-A177-3AD203B41FA5}">
                      <a16:colId xmlns:a16="http://schemas.microsoft.com/office/drawing/2014/main" val="3050937155"/>
                    </a:ext>
                  </a:extLst>
                </a:gridCol>
                <a:gridCol w="2695474">
                  <a:extLst>
                    <a:ext uri="{9D8B030D-6E8A-4147-A177-3AD203B41FA5}">
                      <a16:colId xmlns:a16="http://schemas.microsoft.com/office/drawing/2014/main" val="1115346307"/>
                    </a:ext>
                  </a:extLst>
                </a:gridCol>
              </a:tblGrid>
              <a:tr h="23693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RO/ PIU</a:t>
                      </a:r>
                    </a:p>
                  </a:txBody>
                  <a:tcPr marL="45720" marR="2587" marT="2587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BG Release cases pending for action</a:t>
                      </a:r>
                    </a:p>
                  </a:txBody>
                  <a:tcPr marL="45720" marR="2587" marT="2587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447787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RO-Bengaluru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528560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Chitradurga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1477866273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Hassan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231510482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RO-Bhopal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75790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Bhopal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1685439051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Gwalior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4063703621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Rewa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3700115983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RO-Bhubaneswar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762924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Chandikhole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2951944751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Dhenkanal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1072004806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Sambalpur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677151510"/>
                  </a:ext>
                </a:extLst>
              </a:tr>
              <a:tr h="2369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RO-Chandigarh (PB)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44115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Amritsar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1402590721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Bhatinda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4168132590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RO-Chennai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41296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Chennai-II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3442295007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Krishnagiri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2484359626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Viluppuram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1198898176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RO-Delhi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246777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Baghpat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3597398612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RO-Gandhinagar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439404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Gandhidham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2753384023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RO-Hyderabad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37825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Gajwel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2048406021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Khammam-I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3469611632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RO-Jaipur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25306"/>
                  </a:ext>
                </a:extLst>
              </a:tr>
              <a:tr h="2013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Dausa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120072585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8306C18-B31D-757E-8670-7D2AC3A21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8602602"/>
              </p:ext>
            </p:extLst>
          </p:nvPr>
        </p:nvGraphicFramePr>
        <p:xfrm>
          <a:off x="6662487" y="806918"/>
          <a:ext cx="4909134" cy="590055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069431">
                  <a:extLst>
                    <a:ext uri="{9D8B030D-6E8A-4147-A177-3AD203B41FA5}">
                      <a16:colId xmlns:a16="http://schemas.microsoft.com/office/drawing/2014/main" val="3050937155"/>
                    </a:ext>
                  </a:extLst>
                </a:gridCol>
                <a:gridCol w="2839703">
                  <a:extLst>
                    <a:ext uri="{9D8B030D-6E8A-4147-A177-3AD203B41FA5}">
                      <a16:colId xmlns:a16="http://schemas.microsoft.com/office/drawing/2014/main" val="1115346307"/>
                    </a:ext>
                  </a:extLst>
                </a:gridCol>
              </a:tblGrid>
              <a:tr h="4385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RO/ PIU</a:t>
                      </a:r>
                    </a:p>
                  </a:txBody>
                  <a:tcPr marL="45720" marR="2587" marT="2587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BG Release cases pending for action</a:t>
                      </a:r>
                    </a:p>
                  </a:txBody>
                  <a:tcPr marL="45720" marR="2587" marT="2587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447787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RO-Kolkata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686386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Durgapur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453963339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RO-Madurai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612875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Karaikudi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2979318232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RO-Mumbai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564229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933698115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486568013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Solapur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3039829590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RO-Nagpur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357832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Nanded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629904842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RO-Patna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421653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Begusarai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2038227120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RO-Raipur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512558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Bilaspur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2973798879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RO-Ranchi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080015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Daltonganj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569140727"/>
                  </a:ext>
                </a:extLst>
              </a:tr>
              <a:tr h="3466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RO-Thiruvananthapuram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208041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Cochin-II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1460232532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RO-UP East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737801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Azamgarh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2783053444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RO-UP West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23800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Bareilly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963786846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RO-Vijayawada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29889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Anantapur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3112485153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Kadapa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794156543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ONGOLE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3720856017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Rajamahendravaram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2604025898"/>
                  </a:ext>
                </a:extLst>
              </a:tr>
              <a:tr h="1894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Tirupati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2587" marT="2587" marB="0" anchor="b"/>
                </a:tc>
                <a:extLst>
                  <a:ext uri="{0D108BD9-81ED-4DB2-BD59-A6C34878D82A}">
                    <a16:rowId xmlns:a16="http://schemas.microsoft.com/office/drawing/2014/main" val="280768926"/>
                  </a:ext>
                </a:extLst>
              </a:tr>
            </a:tbl>
          </a:graphicData>
        </a:graphic>
      </p:graphicFrame>
      <p:pic>
        <p:nvPicPr>
          <p:cNvPr id="12" name="Picture 11">
            <a:hlinkClick r:id="rId2" action="ppaction://hlinksldjump"/>
            <a:extLst>
              <a:ext uri="{FF2B5EF4-FFF2-40B4-BE49-F238E27FC236}">
                <a16:creationId xmlns:a16="http://schemas.microsoft.com/office/drawing/2014/main" id="{35392F25-F189-ADEE-347D-10DE20FDF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071" y="6403349"/>
            <a:ext cx="318989" cy="31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67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61A49-0E0D-F07D-F9FA-8990F413B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F839C40-7712-3F4B-3BFD-22EE209B9572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1c. Notices Issued by PIUs due to Poor Upkeep of Toilet Blocks and Admin Building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05BA76-55B5-A067-C2CB-F5C5D27B9279}"/>
              </a:ext>
            </a:extLst>
          </p:cNvPr>
          <p:cNvSpPr txBox="1"/>
          <p:nvPr/>
        </p:nvSpPr>
        <p:spPr>
          <a:xfrm>
            <a:off x="558744" y="801045"/>
            <a:ext cx="6451656" cy="5647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 algn="just" fontAlgn="t">
              <a:lnSpc>
                <a:spcPct val="150000"/>
              </a:lnSpc>
              <a:spcAft>
                <a:spcPts val="600"/>
              </a:spcAft>
              <a:buFont typeface="+mj-lt"/>
              <a:buAutoNum type="romanL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accordance with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Policy Circular No. 17.5.102/2026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All UFCAs are requested to regularly utilize the Data Lake modules and ensure timely </a:t>
            </a:r>
            <a:r>
              <a:rPr lang="en-US" sz="18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updation</a:t>
            </a:r>
            <a:r>
              <a:rPr lang="en-US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notices, compliance actions, and rectification status.</a:t>
            </a:r>
          </a:p>
          <a:p>
            <a:pPr marL="400050" indent="-400050" algn="just" fontAlgn="t">
              <a:lnSpc>
                <a:spcPct val="150000"/>
              </a:lnSpc>
              <a:spcAft>
                <a:spcPts val="600"/>
              </a:spcAft>
              <a:buFont typeface="+mj-lt"/>
              <a:buAutoNum type="romanLcPeriod"/>
            </a:pPr>
            <a:endParaRPr lang="en-US" sz="1800" b="0" i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indent="-400050" algn="just" fontAlgn="t">
              <a:lnSpc>
                <a:spcPct val="150000"/>
              </a:lnSpc>
              <a:spcAft>
                <a:spcPts val="600"/>
              </a:spcAft>
              <a:buFont typeface="+mj-lt"/>
              <a:buAutoNum type="romanL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unrectified notices reported on the Data Lake Portal reach or exceed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10% of the total fee plazas operated by a UFCA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 UFCA may be declared 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Non-Performer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shall not be eligible to participate in NHAI bids, including E-Quotation, Regular Toll Plaza, Civil Works, or any other NHAI bids, for 15 days or until rectification of all pending instances, whichever is later.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4CA032A-2550-AE2A-7851-D06F54DFD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6832" y="801045"/>
            <a:ext cx="4406424" cy="5730793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55806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A8E37-30D8-8C66-6565-6AF32BC68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E2E4B34-F4B8-07D9-D1D4-024F5A94CD91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1c.</a:t>
            </a:r>
            <a:r>
              <a:rPr lang="en-US" sz="2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14 Notices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issued by PIUs due to Poor Upkeep of Toilet Blocks and Admin Building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20CB03-9803-36DC-3AE4-38DA1286B409}"/>
              </a:ext>
            </a:extLst>
          </p:cNvPr>
          <p:cNvSpPr txBox="1"/>
          <p:nvPr/>
        </p:nvSpPr>
        <p:spPr>
          <a:xfrm>
            <a:off x="396818" y="6658642"/>
            <a:ext cx="61024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Status as per </a:t>
            </a:r>
            <a:r>
              <a:rPr lang="en-US" sz="1200" i="1" err="1">
                <a:latin typeface="Arial" panose="020B0604020202020204" pitchFamily="34" charset="0"/>
                <a:cs typeface="Arial" panose="020B0604020202020204" pitchFamily="34" charset="0"/>
              </a:rPr>
              <a:t>Datalake</a:t>
            </a:r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 as on 15 Oct’26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3372E2-46C6-CC95-A01C-8055FF69A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707027"/>
              </p:ext>
            </p:extLst>
          </p:nvPr>
        </p:nvGraphicFramePr>
        <p:xfrm>
          <a:off x="638176" y="798898"/>
          <a:ext cx="10941016" cy="5434631"/>
        </p:xfrm>
        <a:graphic>
          <a:graphicData uri="http://schemas.openxmlformats.org/drawingml/2006/table">
            <a:tbl>
              <a:tblPr/>
              <a:tblGrid>
                <a:gridCol w="3863123">
                  <a:extLst>
                    <a:ext uri="{9D8B030D-6E8A-4147-A177-3AD203B41FA5}">
                      <a16:colId xmlns:a16="http://schemas.microsoft.com/office/drawing/2014/main" val="3040402928"/>
                    </a:ext>
                  </a:extLst>
                </a:gridCol>
                <a:gridCol w="7077893">
                  <a:extLst>
                    <a:ext uri="{9D8B030D-6E8A-4147-A177-3AD203B41FA5}">
                      <a16:colId xmlns:a16="http://schemas.microsoft.com/office/drawing/2014/main" val="4285505108"/>
                    </a:ext>
                  </a:extLst>
                </a:gridCol>
              </a:tblGrid>
              <a:tr h="355474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Notices Issued by PIUs to Agencies for Issues related to Toilet Blocks and Admin Building at Fee Plazas 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00907"/>
                  </a:ext>
                </a:extLst>
              </a:tr>
              <a:tr h="2091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RO/PIU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Count of Type of Issue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09968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Bhopal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509254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PIU-Ujjain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088684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Chennai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627443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PIU- Salem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073460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PIU-Chennai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585863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PIU-Nagarcoil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984165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Gandhinagar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631285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PIU-Rajkot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530383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PIU-Surat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350342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PIU-Vadodara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363052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Madurai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544758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PIU-Madurai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72932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UP West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5309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PIU-Aligarh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764879"/>
                  </a:ext>
                </a:extLst>
              </a:tr>
              <a:tr h="3241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R="4192" marT="419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682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718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1432B-60BD-97FF-5B21-B5F5C3EDD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1D1DBAA-E829-4545-1B6E-0FF20367BB71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1c.</a:t>
            </a:r>
            <a:r>
              <a:rPr lang="en-US" sz="2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u="sng" dirty="0">
                <a:latin typeface="Arial" panose="020B0604020202020204" pitchFamily="34" charset="0"/>
                <a:cs typeface="Arial" panose="020B0604020202020204" pitchFamily="34" charset="0"/>
              </a:rPr>
              <a:t>14 Notices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issued by PIUs due to Poor Upkeep of Toilet Blocks and Admin Building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2B7FD6-485F-1895-E990-4EF309731C8C}"/>
              </a:ext>
            </a:extLst>
          </p:cNvPr>
          <p:cNvGraphicFramePr>
            <a:graphicFrameLocks noGrp="1"/>
          </p:cNvGraphicFramePr>
          <p:nvPr/>
        </p:nvGraphicFramePr>
        <p:xfrm>
          <a:off x="517525" y="784300"/>
          <a:ext cx="11129043" cy="5933590"/>
        </p:xfrm>
        <a:graphic>
          <a:graphicData uri="http://schemas.openxmlformats.org/drawingml/2006/table">
            <a:tbl>
              <a:tblPr/>
              <a:tblGrid>
                <a:gridCol w="620062">
                  <a:extLst>
                    <a:ext uri="{9D8B030D-6E8A-4147-A177-3AD203B41FA5}">
                      <a16:colId xmlns:a16="http://schemas.microsoft.com/office/drawing/2014/main" val="2035157671"/>
                    </a:ext>
                  </a:extLst>
                </a:gridCol>
                <a:gridCol w="1787844">
                  <a:extLst>
                    <a:ext uri="{9D8B030D-6E8A-4147-A177-3AD203B41FA5}">
                      <a16:colId xmlns:a16="http://schemas.microsoft.com/office/drawing/2014/main" val="85739662"/>
                    </a:ext>
                  </a:extLst>
                </a:gridCol>
                <a:gridCol w="1839516">
                  <a:extLst>
                    <a:ext uri="{9D8B030D-6E8A-4147-A177-3AD203B41FA5}">
                      <a16:colId xmlns:a16="http://schemas.microsoft.com/office/drawing/2014/main" val="3003168578"/>
                    </a:ext>
                  </a:extLst>
                </a:gridCol>
                <a:gridCol w="1487635">
                  <a:extLst>
                    <a:ext uri="{9D8B030D-6E8A-4147-A177-3AD203B41FA5}">
                      <a16:colId xmlns:a16="http://schemas.microsoft.com/office/drawing/2014/main" val="1753883708"/>
                    </a:ext>
                  </a:extLst>
                </a:gridCol>
                <a:gridCol w="1354315">
                  <a:extLst>
                    <a:ext uri="{9D8B030D-6E8A-4147-A177-3AD203B41FA5}">
                      <a16:colId xmlns:a16="http://schemas.microsoft.com/office/drawing/2014/main" val="3147833933"/>
                    </a:ext>
                  </a:extLst>
                </a:gridCol>
                <a:gridCol w="2459579">
                  <a:extLst>
                    <a:ext uri="{9D8B030D-6E8A-4147-A177-3AD203B41FA5}">
                      <a16:colId xmlns:a16="http://schemas.microsoft.com/office/drawing/2014/main" val="2840552318"/>
                    </a:ext>
                  </a:extLst>
                </a:gridCol>
                <a:gridCol w="1580092">
                  <a:extLst>
                    <a:ext uri="{9D8B030D-6E8A-4147-A177-3AD203B41FA5}">
                      <a16:colId xmlns:a16="http://schemas.microsoft.com/office/drawing/2014/main" val="4018276548"/>
                    </a:ext>
                  </a:extLst>
                </a:gridCol>
              </a:tblGrid>
              <a:tr h="28335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S.NO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Agency Name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Plaza Name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RO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PIU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Type of Issue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Notice Date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397101"/>
                  </a:ext>
                </a:extLst>
              </a:tr>
              <a:tr h="2833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err="1">
                          <a:effectLst/>
                          <a:latin typeface="Arial" panose="020B0604020202020204" pitchFamily="34" charset="0"/>
                        </a:rPr>
                        <a:t>Innovision</a:t>
                      </a: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 Ltd.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err="1">
                          <a:effectLst/>
                          <a:latin typeface="Arial" panose="020B0604020202020204" pitchFamily="34" charset="0"/>
                        </a:rPr>
                        <a:t>Aashpur</a:t>
                      </a: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- 320109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UP West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Aligarh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Toilets at Fee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13/10/2026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259422"/>
                  </a:ext>
                </a:extLst>
              </a:tr>
              <a:tr h="3945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err="1">
                          <a:effectLst/>
                          <a:latin typeface="Arial" panose="020B0604020202020204" pitchFamily="34" charset="0"/>
                        </a:rPr>
                        <a:t>Ashapura</a:t>
                      </a: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 Transport Co.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Kuchadi - 336008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Gandhinagar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Rajkot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Admin Building/100 </a:t>
                      </a:r>
                      <a:r>
                        <a:rPr lang="en-US" sz="1400" b="0" i="0" u="none" strike="noStrike" err="1">
                          <a:effectLst/>
                          <a:latin typeface="Arial" panose="020B0604020202020204" pitchFamily="34" charset="0"/>
                        </a:rPr>
                        <a:t>mtr</a:t>
                      </a: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either side of Toll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11/07/2026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507521"/>
                  </a:ext>
                </a:extLst>
              </a:tr>
              <a:tr h="2833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Raja Ram Godara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err="1">
                          <a:effectLst/>
                          <a:latin typeface="Arial" panose="020B0604020202020204" pitchFamily="34" charset="0"/>
                        </a:rPr>
                        <a:t>Limdi</a:t>
                      </a: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- 330082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Gandhinagar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Vadodara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Toilets at Fee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12/10/2026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580554"/>
                  </a:ext>
                </a:extLst>
              </a:tr>
              <a:tr h="3945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Riddhi Siddhi Associates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Boirach - 2001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Gandhinagar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Surat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Toilets at Fee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11/10/2026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9218755"/>
                  </a:ext>
                </a:extLst>
              </a:tr>
              <a:tr h="3945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Fastgo Infra Private Limited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err="1">
                          <a:effectLst/>
                          <a:latin typeface="Arial" panose="020B0604020202020204" pitchFamily="34" charset="0"/>
                        </a:rPr>
                        <a:t>Thirupathisaram</a:t>
                      </a: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- 360068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Chennai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err="1">
                          <a:effectLst/>
                          <a:latin typeface="Arial" panose="020B0604020202020204" pitchFamily="34" charset="0"/>
                        </a:rPr>
                        <a:t>Nagarcoil</a:t>
                      </a: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Toilets at Fee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12/10/2026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0121126"/>
                  </a:ext>
                </a:extLst>
              </a:tr>
              <a:tr h="2833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Y Meenakshi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err="1">
                          <a:effectLst/>
                          <a:latin typeface="Arial" panose="020B0604020202020204" pitchFamily="34" charset="0"/>
                        </a:rPr>
                        <a:t>Palkhanda</a:t>
                      </a: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- 546039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Bhopal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Ujjain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Toilets at Fee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13/10/2026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081974"/>
                  </a:ext>
                </a:extLst>
              </a:tr>
              <a:tr h="3945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Coral Associates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err="1">
                          <a:effectLst/>
                          <a:latin typeface="Arial" panose="020B0604020202020204" pitchFamily="34" charset="0"/>
                        </a:rPr>
                        <a:t>Tarana</a:t>
                      </a: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- 536052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Gandhinagar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Rajkot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Admin Building/100 </a:t>
                      </a:r>
                      <a:r>
                        <a:rPr lang="en-US" sz="1400" b="0" i="0" u="none" strike="noStrike" err="1">
                          <a:effectLst/>
                          <a:latin typeface="Arial" panose="020B0604020202020204" pitchFamily="34" charset="0"/>
                        </a:rPr>
                        <a:t>mtr</a:t>
                      </a: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either side of Toll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11/07/2026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085987"/>
                  </a:ext>
                </a:extLst>
              </a:tr>
              <a:tr h="2833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Coral Associates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err="1">
                          <a:effectLst/>
                          <a:latin typeface="Arial" panose="020B0604020202020204" pitchFamily="34" charset="0"/>
                        </a:rPr>
                        <a:t>Tarana</a:t>
                      </a: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- 536052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Gandhinagar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Rajkot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Toilets at Fee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09/01/2026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84239"/>
                  </a:ext>
                </a:extLst>
              </a:tr>
              <a:tr h="5329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Highway Infrastructure Limited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err="1">
                          <a:effectLst/>
                          <a:latin typeface="Arial" panose="020B0604020202020204" pitchFamily="34" charset="0"/>
                        </a:rPr>
                        <a:t>Kozhinjiipatti</a:t>
                      </a: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 - 56001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Madurao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Madurai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Toilets at Fee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13/10/2026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72383"/>
                  </a:ext>
                </a:extLst>
              </a:tr>
              <a:tr h="3945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Roopali </a:t>
                      </a:r>
                      <a:r>
                        <a:rPr lang="en-US" sz="1400" b="1" i="0" u="none" strike="noStrike" err="1">
                          <a:effectLst/>
                          <a:latin typeface="Arial" panose="020B0604020202020204" pitchFamily="34" charset="0"/>
                        </a:rPr>
                        <a:t>Jewellers</a:t>
                      </a:r>
                      <a:endParaRPr lang="en-US" sz="14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err="1">
                          <a:effectLst/>
                          <a:latin typeface="Arial" panose="020B0604020202020204" pitchFamily="34" charset="0"/>
                        </a:rPr>
                        <a:t>Dharampur</a:t>
                      </a: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-Danta - 336026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Gandhinagar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Rajkot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Toilets at Fee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01/10/2026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77395"/>
                  </a:ext>
                </a:extLst>
              </a:tr>
              <a:tr h="3945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Skylark Infra Engineering Pvt. Ltd.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Dari - 336010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Gandhinagar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Rajkot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Admin Building/100 mtr either side of Toll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18/08/2026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1733871"/>
                  </a:ext>
                </a:extLst>
              </a:tr>
              <a:tr h="3945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Amar Infrastructure Limited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Mathur - 360042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Chennai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Chennai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Toilets at Fee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13/10/2026</a:t>
                      </a:r>
                    </a:p>
                    <a:p>
                      <a:pPr algn="ctr" fontAlgn="ctr">
                        <a:buNone/>
                      </a:pPr>
                      <a:endParaRPr lang="en-US" sz="1400" b="0" i="0" u="none" strike="noStrike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537609"/>
                  </a:ext>
                </a:extLst>
              </a:tr>
              <a:tr h="3945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13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err="1">
                          <a:effectLst/>
                          <a:latin typeface="Arial" panose="020B0604020202020204" pitchFamily="34" charset="0"/>
                        </a:rPr>
                        <a:t>Narise</a:t>
                      </a: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 Siva Ganesh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err="1">
                          <a:effectLst/>
                          <a:latin typeface="Arial" panose="020B0604020202020204" pitchFamily="34" charset="0"/>
                        </a:rPr>
                        <a:t>Rasampalayam</a:t>
                      </a: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Plaza - 57001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Chennai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 Salem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Toilets at Fee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13/10/2026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644272"/>
                  </a:ext>
                </a:extLst>
              </a:tr>
              <a:tr h="3945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 err="1">
                          <a:effectLst/>
                          <a:latin typeface="Arial" panose="020B0604020202020204" pitchFamily="34" charset="0"/>
                        </a:rPr>
                        <a:t>Sahakar</a:t>
                      </a:r>
                      <a:r>
                        <a:rPr lang="en-US" sz="1400" b="1" i="0" u="none" strike="noStrike">
                          <a:effectLst/>
                          <a:latin typeface="Arial" panose="020B0604020202020204" pitchFamily="34" charset="0"/>
                        </a:rPr>
                        <a:t> Global Ltd.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Nallur - 360032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Chennai</a:t>
                      </a:r>
                    </a:p>
                    <a:p>
                      <a:pPr algn="l" fontAlgn="ctr">
                        <a:buNone/>
                      </a:pPr>
                      <a:endParaRPr lang="en-US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Chennai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Toilets at Fee Plaza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13/10/2026</a:t>
                      </a:r>
                    </a:p>
                  </a:txBody>
                  <a:tcPr marL="3626" marR="3626" marT="3626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7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3957837-965F-EEF4-229A-6C6796CD7168}"/>
              </a:ext>
            </a:extLst>
          </p:cNvPr>
          <p:cNvSpPr txBox="1"/>
          <p:nvPr/>
        </p:nvSpPr>
        <p:spPr>
          <a:xfrm>
            <a:off x="396818" y="6658642"/>
            <a:ext cx="61024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Status as per </a:t>
            </a:r>
            <a:r>
              <a:rPr lang="en-US" sz="1200" i="1" err="1">
                <a:latin typeface="Arial" panose="020B0604020202020204" pitchFamily="34" charset="0"/>
                <a:cs typeface="Arial" panose="020B0604020202020204" pitchFamily="34" charset="0"/>
              </a:rPr>
              <a:t>Datalake</a:t>
            </a:r>
            <a:r>
              <a:rPr lang="en-US" sz="1200" i="1">
                <a:latin typeface="Arial" panose="020B0604020202020204" pitchFamily="34" charset="0"/>
                <a:cs typeface="Arial" panose="020B0604020202020204" pitchFamily="34" charset="0"/>
              </a:rPr>
              <a:t> as on 15 Oct’26</a:t>
            </a:r>
          </a:p>
        </p:txBody>
      </p:sp>
    </p:spTree>
    <p:extLst>
      <p:ext uri="{BB962C8B-B14F-4D97-AF65-F5344CB8AC3E}">
        <p14:creationId xmlns:p14="http://schemas.microsoft.com/office/powerpoint/2010/main" val="3019218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04FEE-AB58-1923-DDD1-A7EEBA571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F771BD7-6C60-9A10-FE29-EA589A876789}"/>
              </a:ext>
            </a:extLst>
          </p:cNvPr>
          <p:cNvSpPr txBox="1">
            <a:spLocks/>
          </p:cNvSpPr>
          <p:nvPr/>
        </p:nvSpPr>
        <p:spPr>
          <a:xfrm>
            <a:off x="3952491" y="3258513"/>
            <a:ext cx="4617720" cy="5334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4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54017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DD4E4-7D16-2A52-80A8-17CD5FD8A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05EA493-2495-BEC0-02E9-CE9FDFFC5AA4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1a. BG &amp; Security Releases: 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 cases Pending for action with 35 PIUS                     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(1/6)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59DEDA-E7F7-8949-AB54-54BB16169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579719"/>
              </p:ext>
            </p:extLst>
          </p:nvPr>
        </p:nvGraphicFramePr>
        <p:xfrm>
          <a:off x="396818" y="770022"/>
          <a:ext cx="11795182" cy="5789809"/>
        </p:xfrm>
        <a:graphic>
          <a:graphicData uri="http://schemas.openxmlformats.org/drawingml/2006/table">
            <a:tbl>
              <a:tblPr firstRow="1" firstCol="1" bandRow="1"/>
              <a:tblGrid>
                <a:gridCol w="605701">
                  <a:extLst>
                    <a:ext uri="{9D8B030D-6E8A-4147-A177-3AD203B41FA5}">
                      <a16:colId xmlns:a16="http://schemas.microsoft.com/office/drawing/2014/main" val="3523133124"/>
                    </a:ext>
                  </a:extLst>
                </a:gridCol>
                <a:gridCol w="949995">
                  <a:extLst>
                    <a:ext uri="{9D8B030D-6E8A-4147-A177-3AD203B41FA5}">
                      <a16:colId xmlns:a16="http://schemas.microsoft.com/office/drawing/2014/main" val="649970463"/>
                    </a:ext>
                  </a:extLst>
                </a:gridCol>
                <a:gridCol w="1490112">
                  <a:extLst>
                    <a:ext uri="{9D8B030D-6E8A-4147-A177-3AD203B41FA5}">
                      <a16:colId xmlns:a16="http://schemas.microsoft.com/office/drawing/2014/main" val="3989552270"/>
                    </a:ext>
                  </a:extLst>
                </a:gridCol>
                <a:gridCol w="1277881">
                  <a:extLst>
                    <a:ext uri="{9D8B030D-6E8A-4147-A177-3AD203B41FA5}">
                      <a16:colId xmlns:a16="http://schemas.microsoft.com/office/drawing/2014/main" val="2475933588"/>
                    </a:ext>
                  </a:extLst>
                </a:gridCol>
                <a:gridCol w="1685031">
                  <a:extLst>
                    <a:ext uri="{9D8B030D-6E8A-4147-A177-3AD203B41FA5}">
                      <a16:colId xmlns:a16="http://schemas.microsoft.com/office/drawing/2014/main" val="4084555503"/>
                    </a:ext>
                  </a:extLst>
                </a:gridCol>
                <a:gridCol w="1667717">
                  <a:extLst>
                    <a:ext uri="{9D8B030D-6E8A-4147-A177-3AD203B41FA5}">
                      <a16:colId xmlns:a16="http://schemas.microsoft.com/office/drawing/2014/main" val="2648272223"/>
                    </a:ext>
                  </a:extLst>
                </a:gridCol>
                <a:gridCol w="994620">
                  <a:extLst>
                    <a:ext uri="{9D8B030D-6E8A-4147-A177-3AD203B41FA5}">
                      <a16:colId xmlns:a16="http://schemas.microsoft.com/office/drawing/2014/main" val="2762529374"/>
                    </a:ext>
                  </a:extLst>
                </a:gridCol>
                <a:gridCol w="994620">
                  <a:extLst>
                    <a:ext uri="{9D8B030D-6E8A-4147-A177-3AD203B41FA5}">
                      <a16:colId xmlns:a16="http://schemas.microsoft.com/office/drawing/2014/main" val="3379459943"/>
                    </a:ext>
                  </a:extLst>
                </a:gridCol>
                <a:gridCol w="1029230">
                  <a:extLst>
                    <a:ext uri="{9D8B030D-6E8A-4147-A177-3AD203B41FA5}">
                      <a16:colId xmlns:a16="http://schemas.microsoft.com/office/drawing/2014/main" val="866936210"/>
                    </a:ext>
                  </a:extLst>
                </a:gridCol>
                <a:gridCol w="1100275">
                  <a:extLst>
                    <a:ext uri="{9D8B030D-6E8A-4147-A177-3AD203B41FA5}">
                      <a16:colId xmlns:a16="http://schemas.microsoft.com/office/drawing/2014/main" val="2891365588"/>
                    </a:ext>
                  </a:extLst>
                </a:gridCol>
              </a:tblGrid>
              <a:tr h="6304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S.No.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Plaza Name - Plaza Code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Agency Name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PIU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Start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End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Contract Agreement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Submission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123098"/>
                  </a:ext>
                </a:extLst>
              </a:tr>
              <a:tr h="84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Submitted by UFCA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Kesla - 536483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Ashish Jaiswal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Bilaspur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RO-Raipur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02/11/2025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30/09/2026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15/10/2025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660858"/>
                  </a:ext>
                </a:extLst>
              </a:tr>
              <a:tr h="84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Nunmath - 536083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Jalasree Mercantiles (P) Ltd.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Sambalpur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RO-Bhubaneswar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31/08/2025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31/08/2026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13/08/2025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98304"/>
                  </a:ext>
                </a:extLst>
              </a:tr>
              <a:tr h="84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Mundiyar - 330101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Sunny Infraprojects Pvt. Ltd.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Gwalior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RO-Bhopal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11/07/2025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11/07/2026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26/06/2025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522044"/>
                  </a:ext>
                </a:extLst>
              </a:tr>
              <a:tr h="84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Zidda - 314019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Shiva Corporation (India) Ltd.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Bhatinda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RO-Chandigarh (PB)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26/09/2025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30/09/2026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25/09/2025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06/10/2026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84833"/>
                  </a:ext>
                </a:extLst>
              </a:tr>
              <a:tr h="84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Amora Moiddinpur - 536081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T. Suryanarayana Reddy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Azamgarh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RO-UP East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19/06/2025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19/06/2026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06/06/2025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148358"/>
                  </a:ext>
                </a:extLst>
              </a:tr>
              <a:tr h="8446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Derhi</a:t>
                      </a: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- 536068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T. Suryanarayana Reddy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Azamgarh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RO-UP East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11/01/2025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11/04/2025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10/01/2025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816032"/>
                  </a:ext>
                </a:extLst>
              </a:tr>
            </a:tbl>
          </a:graphicData>
        </a:graphic>
      </p:graphicFrame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378B429C-E6FC-83EF-375A-3D6FBE497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658010" y="6559831"/>
            <a:ext cx="274344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08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5C278-A16A-BF87-1028-833F6F05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5080BC-F72F-18D6-A4D2-67A8E49906D0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1a. BG &amp; Security Releases: 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 cases Pending for action with 35 PIUS                 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(2/6)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AEF861-1C5F-E086-E956-24552BAC3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929704"/>
              </p:ext>
            </p:extLst>
          </p:nvPr>
        </p:nvGraphicFramePr>
        <p:xfrm>
          <a:off x="396817" y="770021"/>
          <a:ext cx="11394130" cy="5721439"/>
        </p:xfrm>
        <a:graphic>
          <a:graphicData uri="http://schemas.openxmlformats.org/drawingml/2006/table">
            <a:tbl>
              <a:tblPr firstRow="1" firstCol="1" bandRow="1"/>
              <a:tblGrid>
                <a:gridCol w="585106">
                  <a:extLst>
                    <a:ext uri="{9D8B030D-6E8A-4147-A177-3AD203B41FA5}">
                      <a16:colId xmlns:a16="http://schemas.microsoft.com/office/drawing/2014/main" val="3523133124"/>
                    </a:ext>
                  </a:extLst>
                </a:gridCol>
                <a:gridCol w="917693">
                  <a:extLst>
                    <a:ext uri="{9D8B030D-6E8A-4147-A177-3AD203B41FA5}">
                      <a16:colId xmlns:a16="http://schemas.microsoft.com/office/drawing/2014/main" val="649970463"/>
                    </a:ext>
                  </a:extLst>
                </a:gridCol>
                <a:gridCol w="1439446">
                  <a:extLst>
                    <a:ext uri="{9D8B030D-6E8A-4147-A177-3AD203B41FA5}">
                      <a16:colId xmlns:a16="http://schemas.microsoft.com/office/drawing/2014/main" val="3989552270"/>
                    </a:ext>
                  </a:extLst>
                </a:gridCol>
                <a:gridCol w="1234431">
                  <a:extLst>
                    <a:ext uri="{9D8B030D-6E8A-4147-A177-3AD203B41FA5}">
                      <a16:colId xmlns:a16="http://schemas.microsoft.com/office/drawing/2014/main" val="2475933588"/>
                    </a:ext>
                  </a:extLst>
                </a:gridCol>
                <a:gridCol w="1627738">
                  <a:extLst>
                    <a:ext uri="{9D8B030D-6E8A-4147-A177-3AD203B41FA5}">
                      <a16:colId xmlns:a16="http://schemas.microsoft.com/office/drawing/2014/main" val="4084555503"/>
                    </a:ext>
                  </a:extLst>
                </a:gridCol>
                <a:gridCol w="1611013">
                  <a:extLst>
                    <a:ext uri="{9D8B030D-6E8A-4147-A177-3AD203B41FA5}">
                      <a16:colId xmlns:a16="http://schemas.microsoft.com/office/drawing/2014/main" val="2648272223"/>
                    </a:ext>
                  </a:extLst>
                </a:gridCol>
                <a:gridCol w="960802">
                  <a:extLst>
                    <a:ext uri="{9D8B030D-6E8A-4147-A177-3AD203B41FA5}">
                      <a16:colId xmlns:a16="http://schemas.microsoft.com/office/drawing/2014/main" val="2762529374"/>
                    </a:ext>
                  </a:extLst>
                </a:gridCol>
                <a:gridCol w="960802">
                  <a:extLst>
                    <a:ext uri="{9D8B030D-6E8A-4147-A177-3AD203B41FA5}">
                      <a16:colId xmlns:a16="http://schemas.microsoft.com/office/drawing/2014/main" val="3379459943"/>
                    </a:ext>
                  </a:extLst>
                </a:gridCol>
                <a:gridCol w="994234">
                  <a:extLst>
                    <a:ext uri="{9D8B030D-6E8A-4147-A177-3AD203B41FA5}">
                      <a16:colId xmlns:a16="http://schemas.microsoft.com/office/drawing/2014/main" val="866936210"/>
                    </a:ext>
                  </a:extLst>
                </a:gridCol>
                <a:gridCol w="1062865">
                  <a:extLst>
                    <a:ext uri="{9D8B030D-6E8A-4147-A177-3AD203B41FA5}">
                      <a16:colId xmlns:a16="http://schemas.microsoft.com/office/drawing/2014/main" val="2891365588"/>
                    </a:ext>
                  </a:extLst>
                </a:gridCol>
              </a:tblGrid>
              <a:tr h="5763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S.No</a:t>
                      </a: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Plaza Name - Plaza Code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Agency Name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PIU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Start Date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End Date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Contract Agreement Date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Submission Date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123098"/>
                  </a:ext>
                </a:extLst>
              </a:tr>
              <a:tr h="566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Submitted by UFCA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Annampalli - 352067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T. Suryanarayana Reddy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Rajamahendravaram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RO-Vijayawada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04/07/2023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04/07/2024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03/07/2023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9055978"/>
                  </a:ext>
                </a:extLst>
              </a:tr>
              <a:tr h="566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Garhdevi Toll Plaza - 536471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T. Suryanarayana Reddy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Daltonganj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RO-Ranchi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20/02/2025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19/07/2025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07/02/2025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575012"/>
                  </a:ext>
                </a:extLst>
              </a:tr>
              <a:tr h="566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Patharahata - 536245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T. Suryanarayana Reddy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Rewa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RO-Bhopal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29/10/2024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29/10/2025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25/10/2024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85263"/>
                  </a:ext>
                </a:extLst>
              </a:tr>
              <a:tr h="566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Ponnarimangalam - 367004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T. Suryanarayana Reddy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Cochin-II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RO-Thiruvananthapuram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29/05/2023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11/06/2024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25/05/2023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355373"/>
                  </a:ext>
                </a:extLst>
              </a:tr>
              <a:tr h="566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Valsung - 340036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SDM Ventures Pvt. Ltd.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Solapur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RO-Mumbai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22/06/2025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25/12/2025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12/06/2025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771373"/>
                  </a:ext>
                </a:extLst>
              </a:tr>
              <a:tr h="566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Dhilwan - 41001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SDM Ventures Pvt. Ltd.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Amritsar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RO-Chandigarh (PB)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18/07/2025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18/07/2026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17/07/2025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705222"/>
                  </a:ext>
                </a:extLst>
              </a:tr>
              <a:tr h="566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Titoli - 330105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Iiskam Infra Pvt. Ltd.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Dausa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RO-Jaipur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23/06/2026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23/09/2026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08/06/2026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03/10/2026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894618"/>
                  </a:ext>
                </a:extLst>
              </a:tr>
              <a:tr h="566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Khairamunda - 536403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Vinod Kumar Malik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Dhenkanal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RO-Bhubaneswar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25/02/2025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25/02/2026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24/02/2025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01/10/2026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33582"/>
                  </a:ext>
                </a:extLst>
              </a:tr>
              <a:tr h="5669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Patnipartapur - 536051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Vinod Kumar Malik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Baghpat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RO-Delhi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30/04/2024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30/07/2024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29/04/2024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01/10/2026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585417"/>
                  </a:ext>
                </a:extLst>
              </a:tr>
            </a:tbl>
          </a:graphicData>
        </a:graphic>
      </p:graphicFrame>
      <p:pic>
        <p:nvPicPr>
          <p:cNvPr id="9" name="Picture 8">
            <a:hlinkClick r:id="rId2" action="ppaction://hlinksldjump"/>
            <a:extLst>
              <a:ext uri="{FF2B5EF4-FFF2-40B4-BE49-F238E27FC236}">
                <a16:creationId xmlns:a16="http://schemas.microsoft.com/office/drawing/2014/main" id="{6B2C8DA8-FA97-EA8E-A4F3-300D8233E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658010" y="6559831"/>
            <a:ext cx="274344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285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2428E-C040-2A5C-A124-4355111E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E77598-47E4-9E53-8A99-41092D1DB26C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1a. BG &amp; Security Releases: 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 cases Pending for action with 35 PIUS                  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(3/6)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DB8032-1137-A78B-6F8F-F10F0C371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197601"/>
              </p:ext>
            </p:extLst>
          </p:nvPr>
        </p:nvGraphicFramePr>
        <p:xfrm>
          <a:off x="396818" y="770021"/>
          <a:ext cx="11464981" cy="6015853"/>
        </p:xfrm>
        <a:graphic>
          <a:graphicData uri="http://schemas.openxmlformats.org/drawingml/2006/table">
            <a:tbl>
              <a:tblPr firstRow="1" firstCol="1" bandRow="1"/>
              <a:tblGrid>
                <a:gridCol w="588745">
                  <a:extLst>
                    <a:ext uri="{9D8B030D-6E8A-4147-A177-3AD203B41FA5}">
                      <a16:colId xmlns:a16="http://schemas.microsoft.com/office/drawing/2014/main" val="3523133124"/>
                    </a:ext>
                  </a:extLst>
                </a:gridCol>
                <a:gridCol w="923400">
                  <a:extLst>
                    <a:ext uri="{9D8B030D-6E8A-4147-A177-3AD203B41FA5}">
                      <a16:colId xmlns:a16="http://schemas.microsoft.com/office/drawing/2014/main" val="649970463"/>
                    </a:ext>
                  </a:extLst>
                </a:gridCol>
                <a:gridCol w="1448397">
                  <a:extLst>
                    <a:ext uri="{9D8B030D-6E8A-4147-A177-3AD203B41FA5}">
                      <a16:colId xmlns:a16="http://schemas.microsoft.com/office/drawing/2014/main" val="3989552270"/>
                    </a:ext>
                  </a:extLst>
                </a:gridCol>
                <a:gridCol w="1242107">
                  <a:extLst>
                    <a:ext uri="{9D8B030D-6E8A-4147-A177-3AD203B41FA5}">
                      <a16:colId xmlns:a16="http://schemas.microsoft.com/office/drawing/2014/main" val="2475933588"/>
                    </a:ext>
                  </a:extLst>
                </a:gridCol>
                <a:gridCol w="1637859">
                  <a:extLst>
                    <a:ext uri="{9D8B030D-6E8A-4147-A177-3AD203B41FA5}">
                      <a16:colId xmlns:a16="http://schemas.microsoft.com/office/drawing/2014/main" val="4084555503"/>
                    </a:ext>
                  </a:extLst>
                </a:gridCol>
                <a:gridCol w="1621030">
                  <a:extLst>
                    <a:ext uri="{9D8B030D-6E8A-4147-A177-3AD203B41FA5}">
                      <a16:colId xmlns:a16="http://schemas.microsoft.com/office/drawing/2014/main" val="2648272223"/>
                    </a:ext>
                  </a:extLst>
                </a:gridCol>
                <a:gridCol w="966776">
                  <a:extLst>
                    <a:ext uri="{9D8B030D-6E8A-4147-A177-3AD203B41FA5}">
                      <a16:colId xmlns:a16="http://schemas.microsoft.com/office/drawing/2014/main" val="2762529374"/>
                    </a:ext>
                  </a:extLst>
                </a:gridCol>
                <a:gridCol w="966776">
                  <a:extLst>
                    <a:ext uri="{9D8B030D-6E8A-4147-A177-3AD203B41FA5}">
                      <a16:colId xmlns:a16="http://schemas.microsoft.com/office/drawing/2014/main" val="3379459943"/>
                    </a:ext>
                  </a:extLst>
                </a:gridCol>
                <a:gridCol w="1000417">
                  <a:extLst>
                    <a:ext uri="{9D8B030D-6E8A-4147-A177-3AD203B41FA5}">
                      <a16:colId xmlns:a16="http://schemas.microsoft.com/office/drawing/2014/main" val="866936210"/>
                    </a:ext>
                  </a:extLst>
                </a:gridCol>
                <a:gridCol w="1069474">
                  <a:extLst>
                    <a:ext uri="{9D8B030D-6E8A-4147-A177-3AD203B41FA5}">
                      <a16:colId xmlns:a16="http://schemas.microsoft.com/office/drawing/2014/main" val="2891365588"/>
                    </a:ext>
                  </a:extLst>
                </a:gridCol>
              </a:tblGrid>
              <a:tr h="6585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S.No</a:t>
                      </a: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Plaza Name - Plaza Code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Agency Name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PIU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Start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End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Contract Agreement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Submission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123098"/>
                  </a:ext>
                </a:extLst>
              </a:tr>
              <a:tr h="8822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Submitted by UFCA</a:t>
                      </a: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Jiwana - 132096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Vinod Kumar Malik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Baghpat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RO-Delhi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20/03/2022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20/03/2023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16/03/2022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980710"/>
                  </a:ext>
                </a:extLst>
              </a:tr>
              <a:tr h="8822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Patnipartapur - 536051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Vinod Kumar Malik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Baghpat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RO-Delhi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30/04/2024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30/07/2024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29/04/2024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805632"/>
                  </a:ext>
                </a:extLst>
              </a:tr>
              <a:tr h="8822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Jiwana - 132096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Vinod Kumar Malik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Baghpat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RO-Delhi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29/05/2024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29/05/2025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28/05/2024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5139887"/>
                  </a:ext>
                </a:extLst>
              </a:tr>
              <a:tr h="8822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Baleni - 320137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Vinod Kumar Malik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Baghpat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RO-Delhi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15/03/2025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15/03/2026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12/03/2025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822488"/>
                  </a:ext>
                </a:extLst>
              </a:tr>
              <a:tr h="8822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Geela ki Nangal - 536511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Sonu Kumar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Dausa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RO-Jaipur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09/07/2025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11/09/2025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09/05/2025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940327"/>
                  </a:ext>
                </a:extLst>
              </a:tr>
              <a:tr h="8822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Kalapathar - 370026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Sonu Kumar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Durgapur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RO-Kolkata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16/05/2026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16/08/2026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15/05/2026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409708"/>
                  </a:ext>
                </a:extLst>
              </a:tr>
            </a:tbl>
          </a:graphicData>
        </a:graphic>
      </p:graphicFrame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F92B757F-7F34-AF0A-DED1-C6426353B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658010" y="6559831"/>
            <a:ext cx="274344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08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CA5C0-315A-F8EA-6B85-A1701A71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7B558F1-DBA1-CCFC-DCF3-49A059184F4D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1a. BG &amp; Security Releases: 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 cases Pending for action with 35 PIUS                 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(4/6)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9FA11D1-9501-355E-95C3-DCCDF19C8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411020"/>
              </p:ext>
            </p:extLst>
          </p:nvPr>
        </p:nvGraphicFramePr>
        <p:xfrm>
          <a:off x="616017" y="770020"/>
          <a:ext cx="11203806" cy="5861783"/>
        </p:xfrm>
        <a:graphic>
          <a:graphicData uri="http://schemas.openxmlformats.org/drawingml/2006/table">
            <a:tbl>
              <a:tblPr firstRow="1" firstCol="1" bandRow="1"/>
              <a:tblGrid>
                <a:gridCol w="575333">
                  <a:extLst>
                    <a:ext uri="{9D8B030D-6E8A-4147-A177-3AD203B41FA5}">
                      <a16:colId xmlns:a16="http://schemas.microsoft.com/office/drawing/2014/main" val="3523133124"/>
                    </a:ext>
                  </a:extLst>
                </a:gridCol>
                <a:gridCol w="902365">
                  <a:extLst>
                    <a:ext uri="{9D8B030D-6E8A-4147-A177-3AD203B41FA5}">
                      <a16:colId xmlns:a16="http://schemas.microsoft.com/office/drawing/2014/main" val="649970463"/>
                    </a:ext>
                  </a:extLst>
                </a:gridCol>
                <a:gridCol w="1415402">
                  <a:extLst>
                    <a:ext uri="{9D8B030D-6E8A-4147-A177-3AD203B41FA5}">
                      <a16:colId xmlns:a16="http://schemas.microsoft.com/office/drawing/2014/main" val="3989552270"/>
                    </a:ext>
                  </a:extLst>
                </a:gridCol>
                <a:gridCol w="1213812">
                  <a:extLst>
                    <a:ext uri="{9D8B030D-6E8A-4147-A177-3AD203B41FA5}">
                      <a16:colId xmlns:a16="http://schemas.microsoft.com/office/drawing/2014/main" val="2475933588"/>
                    </a:ext>
                  </a:extLst>
                </a:gridCol>
                <a:gridCol w="1600549">
                  <a:extLst>
                    <a:ext uri="{9D8B030D-6E8A-4147-A177-3AD203B41FA5}">
                      <a16:colId xmlns:a16="http://schemas.microsoft.com/office/drawing/2014/main" val="4084555503"/>
                    </a:ext>
                  </a:extLst>
                </a:gridCol>
                <a:gridCol w="1584103">
                  <a:extLst>
                    <a:ext uri="{9D8B030D-6E8A-4147-A177-3AD203B41FA5}">
                      <a16:colId xmlns:a16="http://schemas.microsoft.com/office/drawing/2014/main" val="2648272223"/>
                    </a:ext>
                  </a:extLst>
                </a:gridCol>
                <a:gridCol w="944752">
                  <a:extLst>
                    <a:ext uri="{9D8B030D-6E8A-4147-A177-3AD203B41FA5}">
                      <a16:colId xmlns:a16="http://schemas.microsoft.com/office/drawing/2014/main" val="2762529374"/>
                    </a:ext>
                  </a:extLst>
                </a:gridCol>
                <a:gridCol w="944752">
                  <a:extLst>
                    <a:ext uri="{9D8B030D-6E8A-4147-A177-3AD203B41FA5}">
                      <a16:colId xmlns:a16="http://schemas.microsoft.com/office/drawing/2014/main" val="3379459943"/>
                    </a:ext>
                  </a:extLst>
                </a:gridCol>
                <a:gridCol w="977627">
                  <a:extLst>
                    <a:ext uri="{9D8B030D-6E8A-4147-A177-3AD203B41FA5}">
                      <a16:colId xmlns:a16="http://schemas.microsoft.com/office/drawing/2014/main" val="866936210"/>
                    </a:ext>
                  </a:extLst>
                </a:gridCol>
                <a:gridCol w="1045111">
                  <a:extLst>
                    <a:ext uri="{9D8B030D-6E8A-4147-A177-3AD203B41FA5}">
                      <a16:colId xmlns:a16="http://schemas.microsoft.com/office/drawing/2014/main" val="2891365588"/>
                    </a:ext>
                  </a:extLst>
                </a:gridCol>
              </a:tblGrid>
              <a:tr h="76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S.No</a:t>
                      </a: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Plaza Name - Plaza Code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Agency Name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PIU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Start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End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Contract Agreement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Submission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123098"/>
                  </a:ext>
                </a:extLst>
              </a:tr>
              <a:tr h="505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Submitted by UFCA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Shukhuapada - 375025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Sonu Kumar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Chandikhole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RO-Bhubaneswar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19/07/2025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19/07/2026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15/07/2025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574981"/>
                  </a:ext>
                </a:extLst>
              </a:tr>
              <a:tr h="505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Khairamunda - 536403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Sonu Kumar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Dhenkanal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RO-Bhubaneswar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14/06/2025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20/09/2025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13/06/2025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412135"/>
                  </a:ext>
                </a:extLst>
              </a:tr>
              <a:tr h="5051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Sukekulan - 536659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Sonu Kumar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Goa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RO-Mumbai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28/08/2026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27/08/2026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865777"/>
                  </a:ext>
                </a:extLst>
              </a:tr>
              <a:tr h="76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Kusthala - 536059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Ranchor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Infra Developers Pvt. Ltd.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Dausa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RO-Jaipur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09/10/2025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13/06/2026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08/10/2025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1156405"/>
                  </a:ext>
                </a:extLst>
              </a:tr>
              <a:tr h="76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Karagathahalli - 536467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Ranchor Infra Developers Pvt. Ltd.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Krishnagiri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RO-Chennai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02/08/2025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02/08/2026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31/07/2026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057595"/>
                  </a:ext>
                </a:extLst>
              </a:tr>
              <a:tr h="76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Itapa - 536602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Ranchor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Infra Developers Pvt. Ltd.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Dhenkanal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RO-Bhubaneswar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02/04/2026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02/07/2026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22/09/2025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62664"/>
                  </a:ext>
                </a:extLst>
              </a:tr>
              <a:tr h="12852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Hebbalu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- 356020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Sri Sai Enterprises and Developers Private Limited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Chitradurga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RO-Bengaluru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29/03/2023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22/06/2024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24/03/2023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562891"/>
                  </a:ext>
                </a:extLst>
              </a:tr>
            </a:tbl>
          </a:graphicData>
        </a:graphic>
      </p:graphicFrame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72AF5B6E-C12E-6EDD-F7E1-9ABE11D9E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658010" y="6559831"/>
            <a:ext cx="274344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35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2313-CE5D-D157-1AB2-B24B2C237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C99164-13F4-C47F-2427-18F0BBBE528C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1a. BG &amp; Security Releases: 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 cases Pending for action with 35 PIUS                 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(5/6)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20F645-7A11-5713-8C5A-0FC3E95E5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058627"/>
              </p:ext>
            </p:extLst>
          </p:nvPr>
        </p:nvGraphicFramePr>
        <p:xfrm>
          <a:off x="571500" y="770021"/>
          <a:ext cx="11176000" cy="5755214"/>
        </p:xfrm>
        <a:graphic>
          <a:graphicData uri="http://schemas.openxmlformats.org/drawingml/2006/table">
            <a:tbl>
              <a:tblPr firstRow="1" firstCol="1" bandRow="1"/>
              <a:tblGrid>
                <a:gridCol w="576895">
                  <a:extLst>
                    <a:ext uri="{9D8B030D-6E8A-4147-A177-3AD203B41FA5}">
                      <a16:colId xmlns:a16="http://schemas.microsoft.com/office/drawing/2014/main" val="3523133124"/>
                    </a:ext>
                  </a:extLst>
                </a:gridCol>
                <a:gridCol w="904816">
                  <a:extLst>
                    <a:ext uri="{9D8B030D-6E8A-4147-A177-3AD203B41FA5}">
                      <a16:colId xmlns:a16="http://schemas.microsoft.com/office/drawing/2014/main" val="649970463"/>
                    </a:ext>
                  </a:extLst>
                </a:gridCol>
                <a:gridCol w="1419247">
                  <a:extLst>
                    <a:ext uri="{9D8B030D-6E8A-4147-A177-3AD203B41FA5}">
                      <a16:colId xmlns:a16="http://schemas.microsoft.com/office/drawing/2014/main" val="3989552270"/>
                    </a:ext>
                  </a:extLst>
                </a:gridCol>
                <a:gridCol w="1575153">
                  <a:extLst>
                    <a:ext uri="{9D8B030D-6E8A-4147-A177-3AD203B41FA5}">
                      <a16:colId xmlns:a16="http://schemas.microsoft.com/office/drawing/2014/main" val="2475933588"/>
                    </a:ext>
                  </a:extLst>
                </a:gridCol>
                <a:gridCol w="1246852">
                  <a:extLst>
                    <a:ext uri="{9D8B030D-6E8A-4147-A177-3AD203B41FA5}">
                      <a16:colId xmlns:a16="http://schemas.microsoft.com/office/drawing/2014/main" val="4084555503"/>
                    </a:ext>
                  </a:extLst>
                </a:gridCol>
                <a:gridCol w="1588405">
                  <a:extLst>
                    <a:ext uri="{9D8B030D-6E8A-4147-A177-3AD203B41FA5}">
                      <a16:colId xmlns:a16="http://schemas.microsoft.com/office/drawing/2014/main" val="2648272223"/>
                    </a:ext>
                  </a:extLst>
                </a:gridCol>
                <a:gridCol w="947319">
                  <a:extLst>
                    <a:ext uri="{9D8B030D-6E8A-4147-A177-3AD203B41FA5}">
                      <a16:colId xmlns:a16="http://schemas.microsoft.com/office/drawing/2014/main" val="2762529374"/>
                    </a:ext>
                  </a:extLst>
                </a:gridCol>
                <a:gridCol w="947319">
                  <a:extLst>
                    <a:ext uri="{9D8B030D-6E8A-4147-A177-3AD203B41FA5}">
                      <a16:colId xmlns:a16="http://schemas.microsoft.com/office/drawing/2014/main" val="3379459943"/>
                    </a:ext>
                  </a:extLst>
                </a:gridCol>
                <a:gridCol w="980283">
                  <a:extLst>
                    <a:ext uri="{9D8B030D-6E8A-4147-A177-3AD203B41FA5}">
                      <a16:colId xmlns:a16="http://schemas.microsoft.com/office/drawing/2014/main" val="866936210"/>
                    </a:ext>
                  </a:extLst>
                </a:gridCol>
                <a:gridCol w="989711">
                  <a:extLst>
                    <a:ext uri="{9D8B030D-6E8A-4147-A177-3AD203B41FA5}">
                      <a16:colId xmlns:a16="http://schemas.microsoft.com/office/drawing/2014/main" val="2891365588"/>
                    </a:ext>
                  </a:extLst>
                </a:gridCol>
              </a:tblGrid>
              <a:tr h="6380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S.No</a:t>
                      </a: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Plaza Name - Plaza Code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Agency Name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PIU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Start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End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Contract Agreement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Submission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123098"/>
                  </a:ext>
                </a:extLst>
              </a:tr>
              <a:tr h="711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Submitted by UFCA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Surapattu - 360028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Sri Sai Enterprises and Developers Private Limited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Chennai-II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RO-Chennai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13/09/2025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11/09/2025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874393"/>
                  </a:ext>
                </a:extLst>
              </a:tr>
              <a:tr h="711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Taddanpally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- 350042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Sri Sai Enterprises and Developers Private Limited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Gajwel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RO-Hyderabad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03/06/2025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03/06/2026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02/06/2025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785058"/>
                  </a:ext>
                </a:extLst>
              </a:tr>
              <a:tr h="711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Bagwada - 545097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Sri Sai Enterprises and Developers Private Limited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Bhopal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RO-Bhopal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05/09/2025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03/09/2025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910435"/>
                  </a:ext>
                </a:extLst>
              </a:tr>
              <a:tr h="711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Malegaon - 536101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Sri Sai Enterprises and Developers Private Limited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Nanded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RO-Nagpur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02/08/2025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02/08/2026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31/07/2025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953675"/>
                  </a:ext>
                </a:extLst>
              </a:tr>
              <a:tr h="711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Alagapada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- 536457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Sri Sai Enterprises and Developers Private Limited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Khammam-I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RO-Hyderabad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07/05/2025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04/08/2026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02/05/2025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764334"/>
                  </a:ext>
                </a:extLst>
              </a:tr>
              <a:tr h="711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Vaddupalli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- 352057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Y Meenakshi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Anantapur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RO-Vijayawada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24/08/2025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22/08/2025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582259"/>
                  </a:ext>
                </a:extLst>
              </a:tr>
              <a:tr h="711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Thenpalli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- 352061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Y Meenakshi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Tirupati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RO-Vijayawada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15/08/2025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14/08/2025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359617"/>
                  </a:ext>
                </a:extLst>
              </a:tr>
            </a:tbl>
          </a:graphicData>
        </a:graphic>
      </p:graphicFrame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EC7E4D97-5DEE-E17F-0FCC-02F83FB67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658010" y="6559831"/>
            <a:ext cx="274344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21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EEB61-FA8E-F598-BF89-C6D571C3B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06A69D7-A9AD-6AE0-6D53-BD9EEF265B0F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1a. BG &amp; Security Releases: 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 cases Pending for action with 35 PIUS                 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(6/6) </a:t>
            </a:r>
            <a:endParaRPr lang="en-US" sz="2200" b="1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79F091-78E5-D3CB-002F-C7C32F2430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77823"/>
              </p:ext>
            </p:extLst>
          </p:nvPr>
        </p:nvGraphicFramePr>
        <p:xfrm>
          <a:off x="396819" y="770021"/>
          <a:ext cx="11461507" cy="6080256"/>
        </p:xfrm>
        <a:graphic>
          <a:graphicData uri="http://schemas.openxmlformats.org/drawingml/2006/table">
            <a:tbl>
              <a:tblPr firstRow="1" firstCol="1" bandRow="1"/>
              <a:tblGrid>
                <a:gridCol w="588568">
                  <a:extLst>
                    <a:ext uri="{9D8B030D-6E8A-4147-A177-3AD203B41FA5}">
                      <a16:colId xmlns:a16="http://schemas.microsoft.com/office/drawing/2014/main" val="3523133124"/>
                    </a:ext>
                  </a:extLst>
                </a:gridCol>
                <a:gridCol w="923121">
                  <a:extLst>
                    <a:ext uri="{9D8B030D-6E8A-4147-A177-3AD203B41FA5}">
                      <a16:colId xmlns:a16="http://schemas.microsoft.com/office/drawing/2014/main" val="649970463"/>
                    </a:ext>
                  </a:extLst>
                </a:gridCol>
                <a:gridCol w="1447958">
                  <a:extLst>
                    <a:ext uri="{9D8B030D-6E8A-4147-A177-3AD203B41FA5}">
                      <a16:colId xmlns:a16="http://schemas.microsoft.com/office/drawing/2014/main" val="3989552270"/>
                    </a:ext>
                  </a:extLst>
                </a:gridCol>
                <a:gridCol w="1671331">
                  <a:extLst>
                    <a:ext uri="{9D8B030D-6E8A-4147-A177-3AD203B41FA5}">
                      <a16:colId xmlns:a16="http://schemas.microsoft.com/office/drawing/2014/main" val="2475933588"/>
                    </a:ext>
                  </a:extLst>
                </a:gridCol>
                <a:gridCol w="1207762">
                  <a:extLst>
                    <a:ext uri="{9D8B030D-6E8A-4147-A177-3AD203B41FA5}">
                      <a16:colId xmlns:a16="http://schemas.microsoft.com/office/drawing/2014/main" val="4084555503"/>
                    </a:ext>
                  </a:extLst>
                </a:gridCol>
                <a:gridCol w="1467968">
                  <a:extLst>
                    <a:ext uri="{9D8B030D-6E8A-4147-A177-3AD203B41FA5}">
                      <a16:colId xmlns:a16="http://schemas.microsoft.com/office/drawing/2014/main" val="2648272223"/>
                    </a:ext>
                  </a:extLst>
                </a:gridCol>
                <a:gridCol w="1119053">
                  <a:extLst>
                    <a:ext uri="{9D8B030D-6E8A-4147-A177-3AD203B41FA5}">
                      <a16:colId xmlns:a16="http://schemas.microsoft.com/office/drawing/2014/main" val="2762529374"/>
                    </a:ext>
                  </a:extLst>
                </a:gridCol>
                <a:gridCol w="966481">
                  <a:extLst>
                    <a:ext uri="{9D8B030D-6E8A-4147-A177-3AD203B41FA5}">
                      <a16:colId xmlns:a16="http://schemas.microsoft.com/office/drawing/2014/main" val="3379459943"/>
                    </a:ext>
                  </a:extLst>
                </a:gridCol>
                <a:gridCol w="1000115">
                  <a:extLst>
                    <a:ext uri="{9D8B030D-6E8A-4147-A177-3AD203B41FA5}">
                      <a16:colId xmlns:a16="http://schemas.microsoft.com/office/drawing/2014/main" val="866936210"/>
                    </a:ext>
                  </a:extLst>
                </a:gridCol>
                <a:gridCol w="1069150">
                  <a:extLst>
                    <a:ext uri="{9D8B030D-6E8A-4147-A177-3AD203B41FA5}">
                      <a16:colId xmlns:a16="http://schemas.microsoft.com/office/drawing/2014/main" val="2891365588"/>
                    </a:ext>
                  </a:extLst>
                </a:gridCol>
              </a:tblGrid>
              <a:tr h="6769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S.No</a:t>
                      </a: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Plaza Name - Plaza Code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Agency Name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PIU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Start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End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Contract Agreement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Submission Date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123098"/>
                  </a:ext>
                </a:extLst>
              </a:tr>
              <a:tr h="4469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Kariyamangalam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- 536246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Y Meenakshi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Viluppuram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RO-Chennai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12/07/2025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18/07/2026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10/07/2025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689407"/>
                  </a:ext>
                </a:extLst>
              </a:tr>
              <a:tr h="4469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37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Mudiveedu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- 350046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Y Meenakshi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Kadapa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RO-Vijayawada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05/08/2025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18/07/2025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583369"/>
                  </a:ext>
                </a:extLst>
              </a:tr>
              <a:tr h="4469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Chowlagere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- 536383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Iiskam Infra Pvt. Ltd.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Hassan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RO-Bengaluru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18/04/2025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18/04/2026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16/04/2025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59880"/>
                  </a:ext>
                </a:extLst>
              </a:tr>
              <a:tr h="5860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Shahpur - 380031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Skylark Infra Engineering Pvt. Ltd.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Begusarai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RO-Patna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05/08/2025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04/08/2025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741654"/>
                  </a:ext>
                </a:extLst>
              </a:tr>
              <a:tr h="7740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Submitted by UFCA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Mahanandpur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- 536701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Gagan Kumar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Bareilly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RO-UP West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11/05/2026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04/12/2025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770998"/>
                  </a:ext>
                </a:extLst>
              </a:tr>
              <a:tr h="4469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41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Peddakonduru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- 536829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NEERAJ KUMAR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ONGOLE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RO-Vijayawada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06/05/2026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06/08/2026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15/12/2025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825695"/>
                  </a:ext>
                </a:extLst>
              </a:tr>
              <a:tr h="2549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Shivani - 536720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NEERAJ KUMAR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Kolhapur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RO-Mumbai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05/05/2026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31/07/2026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15/01/2026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551251"/>
                  </a:ext>
                </a:extLst>
              </a:tr>
              <a:tr h="6769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43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Palaya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Gandharvakottai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- 360048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NEERAJ KUMAR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Karaikudi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RO-Madurai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11/07/2025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04/08/2026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19/06/2026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8947563"/>
                  </a:ext>
                </a:extLst>
              </a:tr>
              <a:tr h="4469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Bhawaninagar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- 536544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NEERAJ KUMAR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Pune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RO-Mumbai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28/08/2025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28/08/2026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27/08/2025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277891"/>
                  </a:ext>
                </a:extLst>
              </a:tr>
              <a:tr h="5860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45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Makhel - 336012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Ayushajay</a:t>
                      </a: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Construction. Ltd.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Gandhidham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RO-Gandhinagar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27/09/2019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27/09/2020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26/09/2019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21/09/2026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523" marR="6523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386670"/>
                  </a:ext>
                </a:extLst>
              </a:tr>
            </a:tbl>
          </a:graphicData>
        </a:graphic>
      </p:graphicFrame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63AE3EB4-CAB9-204B-9AE9-CE8F4AE9F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658010" y="6559831"/>
            <a:ext cx="274344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19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207E3-5E65-E34C-2F12-EF955025C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B3584C5-4811-5AD7-AB9E-D96C09BEA646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1b Force Majeure Claims: 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 cases Pending for Action with 20 PIUs                   </a:t>
            </a:r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(1/3)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3755ED-64A4-DB28-915E-7E3CA3D00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700824"/>
              </p:ext>
            </p:extLst>
          </p:nvPr>
        </p:nvGraphicFramePr>
        <p:xfrm>
          <a:off x="550334" y="855134"/>
          <a:ext cx="11048106" cy="5434854"/>
        </p:xfrm>
        <a:graphic>
          <a:graphicData uri="http://schemas.openxmlformats.org/drawingml/2006/table">
            <a:tbl>
              <a:tblPr firstRow="1" firstCol="1" bandRow="1"/>
              <a:tblGrid>
                <a:gridCol w="407744">
                  <a:extLst>
                    <a:ext uri="{9D8B030D-6E8A-4147-A177-3AD203B41FA5}">
                      <a16:colId xmlns:a16="http://schemas.microsoft.com/office/drawing/2014/main" val="674782143"/>
                    </a:ext>
                  </a:extLst>
                </a:gridCol>
                <a:gridCol w="1330980">
                  <a:extLst>
                    <a:ext uri="{9D8B030D-6E8A-4147-A177-3AD203B41FA5}">
                      <a16:colId xmlns:a16="http://schemas.microsoft.com/office/drawing/2014/main" val="626498673"/>
                    </a:ext>
                  </a:extLst>
                </a:gridCol>
                <a:gridCol w="1515780">
                  <a:extLst>
                    <a:ext uri="{9D8B030D-6E8A-4147-A177-3AD203B41FA5}">
                      <a16:colId xmlns:a16="http://schemas.microsoft.com/office/drawing/2014/main" val="2085695559"/>
                    </a:ext>
                  </a:extLst>
                </a:gridCol>
                <a:gridCol w="1331915">
                  <a:extLst>
                    <a:ext uri="{9D8B030D-6E8A-4147-A177-3AD203B41FA5}">
                      <a16:colId xmlns:a16="http://schemas.microsoft.com/office/drawing/2014/main" val="543022285"/>
                    </a:ext>
                  </a:extLst>
                </a:gridCol>
                <a:gridCol w="1072437">
                  <a:extLst>
                    <a:ext uri="{9D8B030D-6E8A-4147-A177-3AD203B41FA5}">
                      <a16:colId xmlns:a16="http://schemas.microsoft.com/office/drawing/2014/main" val="683553970"/>
                    </a:ext>
                  </a:extLst>
                </a:gridCol>
                <a:gridCol w="1220833">
                  <a:extLst>
                    <a:ext uri="{9D8B030D-6E8A-4147-A177-3AD203B41FA5}">
                      <a16:colId xmlns:a16="http://schemas.microsoft.com/office/drawing/2014/main" val="2954627741"/>
                    </a:ext>
                  </a:extLst>
                </a:gridCol>
                <a:gridCol w="1036037">
                  <a:extLst>
                    <a:ext uri="{9D8B030D-6E8A-4147-A177-3AD203B41FA5}">
                      <a16:colId xmlns:a16="http://schemas.microsoft.com/office/drawing/2014/main" val="2879129877"/>
                    </a:ext>
                  </a:extLst>
                </a:gridCol>
                <a:gridCol w="1036037">
                  <a:extLst>
                    <a:ext uri="{9D8B030D-6E8A-4147-A177-3AD203B41FA5}">
                      <a16:colId xmlns:a16="http://schemas.microsoft.com/office/drawing/2014/main" val="1148077719"/>
                    </a:ext>
                  </a:extLst>
                </a:gridCol>
                <a:gridCol w="1036037">
                  <a:extLst>
                    <a:ext uri="{9D8B030D-6E8A-4147-A177-3AD203B41FA5}">
                      <a16:colId xmlns:a16="http://schemas.microsoft.com/office/drawing/2014/main" val="3075122894"/>
                    </a:ext>
                  </a:extLst>
                </a:gridCol>
                <a:gridCol w="1060306">
                  <a:extLst>
                    <a:ext uri="{9D8B030D-6E8A-4147-A177-3AD203B41FA5}">
                      <a16:colId xmlns:a16="http://schemas.microsoft.com/office/drawing/2014/main" val="2390400280"/>
                    </a:ext>
                  </a:extLst>
                </a:gridCol>
              </a:tblGrid>
              <a:tr h="3499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Plaza Name - Code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Agency Name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PIU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Start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End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Submission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35824"/>
                  </a:ext>
                </a:extLst>
              </a:tr>
              <a:tr h="6408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Submitted by UFCA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Jhalmala - 545108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Ainul Hoque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Korba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RO-Raipur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10/12/2025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10/12/2026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01/12/2025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419194"/>
                  </a:ext>
                </a:extLst>
              </a:tr>
              <a:tr h="6408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Nuadeeh - 375022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Ashish Jaiswal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Sambalpur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RO-Bhubaneswar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19/10/2025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20/09/2025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116998"/>
                  </a:ext>
                </a:extLst>
              </a:tr>
              <a:tr h="7897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Banajodi - 375019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Jagar Singh Contractors Pvt. Ltd.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Keonjhar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RO-Bhubaneswar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20/03/2026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20/03/2027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06/03/2026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09/10/2026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437504"/>
                  </a:ext>
                </a:extLst>
              </a:tr>
              <a:tr h="6408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4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Balgudar</a:t>
                      </a: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- 380019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Anand Mishra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Bhagalpur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RO-Patna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11/02/2026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11/02/2027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10/02/2026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060509"/>
                  </a:ext>
                </a:extLst>
              </a:tr>
              <a:tr h="6408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Sonvarsaa - 345050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Anand Mishra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Rewa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RO-Bhopal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30/10/2025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16/10/2025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625942"/>
                  </a:ext>
                </a:extLst>
              </a:tr>
              <a:tr h="8393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Kumhari - 349010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Jaspreetsingh Ragbirsingh Rajpal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Raipur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RO-Raipur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08/04/2026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08/04/2027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09/03/2026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06/10/2026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24317"/>
                  </a:ext>
                </a:extLst>
              </a:tr>
              <a:tr h="8393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Chowlagere</a:t>
                      </a: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- 536383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Iiskam</a:t>
                      </a: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Infra Pvt. Ltd.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Hassan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RO-Bengaluru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18/04/2025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18/04/2026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16/04/2025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56882"/>
                  </a:ext>
                </a:extLst>
              </a:tr>
            </a:tbl>
          </a:graphicData>
        </a:graphic>
      </p:graphicFrame>
      <p:pic>
        <p:nvPicPr>
          <p:cNvPr id="8" name="Picture 7">
            <a:hlinkClick r:id="rId2" action="ppaction://hlinksldjump"/>
            <a:extLst>
              <a:ext uri="{FF2B5EF4-FFF2-40B4-BE49-F238E27FC236}">
                <a16:creationId xmlns:a16="http://schemas.microsoft.com/office/drawing/2014/main" id="{097A27C2-438F-1F41-58A8-AB2F1B2B4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658010" y="6559831"/>
            <a:ext cx="274344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40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5BEC-9E13-D3EC-577E-B61C5DE3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AB3D62-780E-6C4D-C89B-64F93E67052C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1b Force Majeure Claims: 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 cases Pending for Action with 20 PIUs                    (2/3)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83AFED-EDB5-52BD-46C0-E9B727B98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791201"/>
              </p:ext>
            </p:extLst>
          </p:nvPr>
        </p:nvGraphicFramePr>
        <p:xfrm>
          <a:off x="550335" y="855133"/>
          <a:ext cx="11108266" cy="5728149"/>
        </p:xfrm>
        <a:graphic>
          <a:graphicData uri="http://schemas.openxmlformats.org/drawingml/2006/table">
            <a:tbl>
              <a:tblPr firstRow="1" firstCol="1" bandRow="1"/>
              <a:tblGrid>
                <a:gridCol w="374065">
                  <a:extLst>
                    <a:ext uri="{9D8B030D-6E8A-4147-A177-3AD203B41FA5}">
                      <a16:colId xmlns:a16="http://schemas.microsoft.com/office/drawing/2014/main" val="674782143"/>
                    </a:ext>
                  </a:extLst>
                </a:gridCol>
                <a:gridCol w="1221042">
                  <a:extLst>
                    <a:ext uri="{9D8B030D-6E8A-4147-A177-3AD203B41FA5}">
                      <a16:colId xmlns:a16="http://schemas.microsoft.com/office/drawing/2014/main" val="626498673"/>
                    </a:ext>
                  </a:extLst>
                </a:gridCol>
                <a:gridCol w="1390578">
                  <a:extLst>
                    <a:ext uri="{9D8B030D-6E8A-4147-A177-3AD203B41FA5}">
                      <a16:colId xmlns:a16="http://schemas.microsoft.com/office/drawing/2014/main" val="2085695559"/>
                    </a:ext>
                  </a:extLst>
                </a:gridCol>
                <a:gridCol w="1221900">
                  <a:extLst>
                    <a:ext uri="{9D8B030D-6E8A-4147-A177-3AD203B41FA5}">
                      <a16:colId xmlns:a16="http://schemas.microsoft.com/office/drawing/2014/main" val="543022285"/>
                    </a:ext>
                  </a:extLst>
                </a:gridCol>
                <a:gridCol w="983855">
                  <a:extLst>
                    <a:ext uri="{9D8B030D-6E8A-4147-A177-3AD203B41FA5}">
                      <a16:colId xmlns:a16="http://schemas.microsoft.com/office/drawing/2014/main" val="683553970"/>
                    </a:ext>
                  </a:extLst>
                </a:gridCol>
                <a:gridCol w="1119993">
                  <a:extLst>
                    <a:ext uri="{9D8B030D-6E8A-4147-A177-3AD203B41FA5}">
                      <a16:colId xmlns:a16="http://schemas.microsoft.com/office/drawing/2014/main" val="2954627741"/>
                    </a:ext>
                  </a:extLst>
                </a:gridCol>
                <a:gridCol w="950461">
                  <a:extLst>
                    <a:ext uri="{9D8B030D-6E8A-4147-A177-3AD203B41FA5}">
                      <a16:colId xmlns:a16="http://schemas.microsoft.com/office/drawing/2014/main" val="2879129877"/>
                    </a:ext>
                  </a:extLst>
                </a:gridCol>
                <a:gridCol w="950461">
                  <a:extLst>
                    <a:ext uri="{9D8B030D-6E8A-4147-A177-3AD203B41FA5}">
                      <a16:colId xmlns:a16="http://schemas.microsoft.com/office/drawing/2014/main" val="1148077719"/>
                    </a:ext>
                  </a:extLst>
                </a:gridCol>
                <a:gridCol w="950461">
                  <a:extLst>
                    <a:ext uri="{9D8B030D-6E8A-4147-A177-3AD203B41FA5}">
                      <a16:colId xmlns:a16="http://schemas.microsoft.com/office/drawing/2014/main" val="3075122894"/>
                    </a:ext>
                  </a:extLst>
                </a:gridCol>
                <a:gridCol w="972725">
                  <a:extLst>
                    <a:ext uri="{9D8B030D-6E8A-4147-A177-3AD203B41FA5}">
                      <a16:colId xmlns:a16="http://schemas.microsoft.com/office/drawing/2014/main" val="2390400280"/>
                    </a:ext>
                  </a:extLst>
                </a:gridCol>
                <a:gridCol w="972725">
                  <a:extLst>
                    <a:ext uri="{9D8B030D-6E8A-4147-A177-3AD203B41FA5}">
                      <a16:colId xmlns:a16="http://schemas.microsoft.com/office/drawing/2014/main" val="3782703680"/>
                    </a:ext>
                  </a:extLst>
                </a:gridCol>
              </a:tblGrid>
              <a:tr h="384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Plaza Name - Code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Agency Name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PIU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Start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End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Submission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PIU Submission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35824"/>
                  </a:ext>
                </a:extLst>
              </a:tr>
              <a:tr h="5590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Submitted by UFCA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Khuian Sarvar - 340066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Shiva Corporation (India) Ltd.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Bhatinda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RO-Chandigarh (PB)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25/12/2025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25/03/2026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24/12/2025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06/10/2026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932405"/>
                  </a:ext>
                </a:extLst>
              </a:tr>
              <a:tr h="5189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Cholasamundram - 352064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T. Suryanarayana Reddy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Anantapur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RO-Vijayawada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20/11/2023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07/03/2025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17/11/2023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665365"/>
                  </a:ext>
                </a:extLst>
              </a:tr>
              <a:tr h="5189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Garhdevi Toll Plaza - 536471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T. Suryanarayana Reddy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Daltonganj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RO-Ranchi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20/02/2025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19/07/2025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07/02/2025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410941"/>
                  </a:ext>
                </a:extLst>
              </a:tr>
              <a:tr h="5992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Representation to RO for Release</a:t>
                      </a:r>
                      <a:endParaRPr lang="en-US" sz="1200" b="1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Kandra - 375030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T. Suryanarayana Reddy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Keonjhar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RO-Bhubaneswar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17/04/2023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12/09/2023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10/04/2023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03350"/>
                  </a:ext>
                </a:extLst>
              </a:tr>
              <a:tr h="5189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12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Submitted by UFCA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Amora Moiddinpur - 536081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T. Suryanarayana Reddy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Azamgarh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RO-UP East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19/06/2024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19/06/2025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18/06/2024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802317"/>
                  </a:ext>
                </a:extLst>
              </a:tr>
              <a:tr h="5189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Managathi - 381000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T. Suryanarayana Reddy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Viluppuram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RO-Chennai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27/05/2022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01/10/2022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24/05/2022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012006"/>
                  </a:ext>
                </a:extLst>
              </a:tr>
              <a:tr h="5189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14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Mirzapur urf Kyampur - 520039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T. Suryanarayana Reddy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Gorakhpur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RO-UP East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20/05/2023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20/08/2023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19/05/2023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05/10/2026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233002"/>
                  </a:ext>
                </a:extLst>
              </a:tr>
              <a:tr h="5189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Surapattu</a:t>
                      </a: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- 360028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Sri Sai Enterprises and Developers Private Limited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Chennai-II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RO-Chennai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13/09/2025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11/09/2025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28/09/2026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327536"/>
                  </a:ext>
                </a:extLst>
              </a:tr>
            </a:tbl>
          </a:graphicData>
        </a:graphic>
      </p:graphicFrame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C4707EC7-742E-549A-3BFC-27FD8F918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658010" y="6559831"/>
            <a:ext cx="274344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235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1293B-0581-0E91-07B1-788006EE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AA524E4-3348-DFA7-E36D-F5000BA5618D}"/>
              </a:ext>
            </a:extLst>
          </p:cNvPr>
          <p:cNvSpPr txBox="1"/>
          <p:nvPr/>
        </p:nvSpPr>
        <p:spPr>
          <a:xfrm>
            <a:off x="396818" y="135662"/>
            <a:ext cx="11795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>
                <a:latin typeface="Arial" panose="020B0604020202020204" pitchFamily="34" charset="0"/>
                <a:cs typeface="Arial" panose="020B0604020202020204" pitchFamily="34" charset="0"/>
              </a:rPr>
              <a:t>1b Force Majeure Claims: </a:t>
            </a:r>
            <a:r>
              <a:rPr lang="en-US" sz="2200" b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 cases Pending for Action with 20 PIUs                        (3/3)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ABF69B-AE75-924A-9E6D-FFA0E8492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908321"/>
              </p:ext>
            </p:extLst>
          </p:nvPr>
        </p:nvGraphicFramePr>
        <p:xfrm>
          <a:off x="550334" y="855134"/>
          <a:ext cx="11181222" cy="5886743"/>
        </p:xfrm>
        <a:graphic>
          <a:graphicData uri="http://schemas.openxmlformats.org/drawingml/2006/table">
            <a:tbl>
              <a:tblPr firstRow="1" firstCol="1" bandRow="1"/>
              <a:tblGrid>
                <a:gridCol w="376521">
                  <a:extLst>
                    <a:ext uri="{9D8B030D-6E8A-4147-A177-3AD203B41FA5}">
                      <a16:colId xmlns:a16="http://schemas.microsoft.com/office/drawing/2014/main" val="674782143"/>
                    </a:ext>
                  </a:extLst>
                </a:gridCol>
                <a:gridCol w="843634">
                  <a:extLst>
                    <a:ext uri="{9D8B030D-6E8A-4147-A177-3AD203B41FA5}">
                      <a16:colId xmlns:a16="http://schemas.microsoft.com/office/drawing/2014/main" val="626498673"/>
                    </a:ext>
                  </a:extLst>
                </a:gridCol>
                <a:gridCol w="1785139">
                  <a:extLst>
                    <a:ext uri="{9D8B030D-6E8A-4147-A177-3AD203B41FA5}">
                      <a16:colId xmlns:a16="http://schemas.microsoft.com/office/drawing/2014/main" val="2085695559"/>
                    </a:ext>
                  </a:extLst>
                </a:gridCol>
                <a:gridCol w="1229925">
                  <a:extLst>
                    <a:ext uri="{9D8B030D-6E8A-4147-A177-3AD203B41FA5}">
                      <a16:colId xmlns:a16="http://schemas.microsoft.com/office/drawing/2014/main" val="543022285"/>
                    </a:ext>
                  </a:extLst>
                </a:gridCol>
                <a:gridCol w="990317">
                  <a:extLst>
                    <a:ext uri="{9D8B030D-6E8A-4147-A177-3AD203B41FA5}">
                      <a16:colId xmlns:a16="http://schemas.microsoft.com/office/drawing/2014/main" val="683553970"/>
                    </a:ext>
                  </a:extLst>
                </a:gridCol>
                <a:gridCol w="1127349">
                  <a:extLst>
                    <a:ext uri="{9D8B030D-6E8A-4147-A177-3AD203B41FA5}">
                      <a16:colId xmlns:a16="http://schemas.microsoft.com/office/drawing/2014/main" val="2954627741"/>
                    </a:ext>
                  </a:extLst>
                </a:gridCol>
                <a:gridCol w="956703">
                  <a:extLst>
                    <a:ext uri="{9D8B030D-6E8A-4147-A177-3AD203B41FA5}">
                      <a16:colId xmlns:a16="http://schemas.microsoft.com/office/drawing/2014/main" val="2879129877"/>
                    </a:ext>
                  </a:extLst>
                </a:gridCol>
                <a:gridCol w="956703">
                  <a:extLst>
                    <a:ext uri="{9D8B030D-6E8A-4147-A177-3AD203B41FA5}">
                      <a16:colId xmlns:a16="http://schemas.microsoft.com/office/drawing/2014/main" val="1148077719"/>
                    </a:ext>
                  </a:extLst>
                </a:gridCol>
                <a:gridCol w="956703">
                  <a:extLst>
                    <a:ext uri="{9D8B030D-6E8A-4147-A177-3AD203B41FA5}">
                      <a16:colId xmlns:a16="http://schemas.microsoft.com/office/drawing/2014/main" val="3075122894"/>
                    </a:ext>
                  </a:extLst>
                </a:gridCol>
                <a:gridCol w="979114">
                  <a:extLst>
                    <a:ext uri="{9D8B030D-6E8A-4147-A177-3AD203B41FA5}">
                      <a16:colId xmlns:a16="http://schemas.microsoft.com/office/drawing/2014/main" val="2390400280"/>
                    </a:ext>
                  </a:extLst>
                </a:gridCol>
                <a:gridCol w="979114">
                  <a:extLst>
                    <a:ext uri="{9D8B030D-6E8A-4147-A177-3AD203B41FA5}">
                      <a16:colId xmlns:a16="http://schemas.microsoft.com/office/drawing/2014/main" val="3782703680"/>
                    </a:ext>
                  </a:extLst>
                </a:gridCol>
              </a:tblGrid>
              <a:tr h="2339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~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Status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Plaza Name - Code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Agency Name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PIU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Start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End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CA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Submission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PIU Submission Date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535824"/>
                  </a:ext>
                </a:extLst>
              </a:tr>
              <a:tr h="8448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Nelamangala Toll Plaza - 116001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Sri Sai Enterprises and Developers Private Limited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Bengaluru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RO-Bengaluru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23/08/2025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17/07/2026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08/08/2025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28/09/2026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584944"/>
                  </a:ext>
                </a:extLst>
              </a:tr>
              <a:tr h="8448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17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Agrahara - 536614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Sri Sai Enterprises and Developers Private Limited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Bengaluru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RO-Bengaluru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21/11/2025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21/02/2026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20/11/2025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28/09/2026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404666"/>
                  </a:ext>
                </a:extLst>
              </a:tr>
              <a:tr h="8448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18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Bagwada - 545097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Sri Sai Enterprises and Developers Private Limited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Bhopal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RO-Bhopal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05/09/2025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05/09/2026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03/09/2025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28/09/2026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837414"/>
                  </a:ext>
                </a:extLst>
              </a:tr>
              <a:tr h="4761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19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Bhuni</a:t>
                      </a: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- 546042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Dharam Singh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Baghpat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RO-Delhi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16/01/2025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22/08/2025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15/01/2025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24/09/2026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327536"/>
                  </a:ext>
                </a:extLst>
              </a:tr>
              <a:tr h="5499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Surapattu</a:t>
                      </a: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- 360028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Skylark Infra Engineering Pvt. Ltd.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Chennai-II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RO-Chennai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31/08/2024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13/09/2025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30/08/2024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350298"/>
                  </a:ext>
                </a:extLst>
              </a:tr>
              <a:tr h="5499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Thirupathisaram</a:t>
                      </a: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- 360068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Fastgo</a:t>
                      </a: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Infra Private Limited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Nagarcoil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RO-Madurai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23/04/2026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23/04/2027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07/04/2026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23/09/2026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150727"/>
                  </a:ext>
                </a:extLst>
              </a:tr>
              <a:tr h="5499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Representation to RO for Release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Bawada</a:t>
                      </a: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- 536490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NEERAJ KUMAR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Pandharpur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RO-Mumbai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27/09/2025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27/09/2026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04/09/2025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29/09/2026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563099"/>
                  </a:ext>
                </a:extLst>
              </a:tr>
              <a:tr h="54991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Bhawaninagar</a:t>
                      </a: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- 536544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NEERAJ KUMAR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Pune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RO-Mumbai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28/08/2025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28/08/2026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27/08/2025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22/09/2026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30/09/2026</a:t>
                      </a:r>
                      <a:endParaRPr lang="en-US" sz="12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2421" marR="12421" marT="0" marB="0" anchor="ctr">
                    <a:lnL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301857"/>
                  </a:ext>
                </a:extLst>
              </a:tr>
            </a:tbl>
          </a:graphicData>
        </a:graphic>
      </p:graphicFrame>
      <p:pic>
        <p:nvPicPr>
          <p:cNvPr id="3" name="Picture 2">
            <a:hlinkClick r:id="rId2" action="ppaction://hlinksldjump"/>
            <a:extLst>
              <a:ext uri="{FF2B5EF4-FFF2-40B4-BE49-F238E27FC236}">
                <a16:creationId xmlns:a16="http://schemas.microsoft.com/office/drawing/2014/main" id="{12DC0B48-F9F5-C3EC-AEAF-9DCD35747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11658010" y="6559831"/>
            <a:ext cx="274344" cy="27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283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129b2cc-4393-4691-814d-95eb8359c06c}" enabled="1" method="Standard" siteId="{deff24bb-2089-4400-8c8e-f71e680378b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2889</Words>
  <Application>Microsoft Office PowerPoint</Application>
  <PresentationFormat>Widescreen</PresentationFormat>
  <Paragraphs>1408</Paragraphs>
  <Slides>21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EC Agenda  Commercial Operation Division   National Highways Authority of India   15 October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Document Owner</dc:creator>
  <cp:lastModifiedBy>Pradhan, Chinmayee</cp:lastModifiedBy>
  <cp:revision>5</cp:revision>
  <dcterms:created xsi:type="dcterms:W3CDTF">2026-07-17T09:13:42Z</dcterms:created>
  <dcterms:modified xsi:type="dcterms:W3CDTF">2026-10-16T11:49:35Z</dcterms:modified>
</cp:coreProperties>
</file>